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Open Sans" charset="1" panose="00000000000000000000"/>
      <p:regular r:id="rId16"/>
    </p:embeddedFont>
    <p:embeddedFont>
      <p:font typeface="Open Sans Bold" charset="1" panose="00000000000000000000"/>
      <p:regular r:id="rId17"/>
    </p:embeddedFont>
    <p:embeddedFont>
      <p:font typeface="Montserrat Bold" charset="1" panose="00000800000000000000"/>
      <p:regular r:id="rId18"/>
    </p:embeddedFont>
    <p:embeddedFont>
      <p:font typeface="Canva Sans" charset="1" panose="020B0503030501040103"/>
      <p:regular r:id="rId19"/>
    </p:embeddedFont>
    <p:embeddedFont>
      <p:font typeface="Canva Sans Bold" charset="1" panose="020B0803030501040103"/>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https://kglimson.com"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7.png" Type="http://schemas.openxmlformats.org/officeDocument/2006/relationships/image"/><Relationship Id="rId4"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0490836" y="3343614"/>
            <a:ext cx="755790" cy="755790"/>
          </a:xfrm>
          <a:custGeom>
            <a:avLst/>
            <a:gdLst/>
            <a:ahLst/>
            <a:cxnLst/>
            <a:rect r="r" b="b" t="t" l="l"/>
            <a:pathLst>
              <a:path h="755790" w="755790">
                <a:moveTo>
                  <a:pt x="0" y="0"/>
                </a:moveTo>
                <a:lnTo>
                  <a:pt x="755790" y="0"/>
                </a:lnTo>
                <a:lnTo>
                  <a:pt x="755790" y="755790"/>
                </a:lnTo>
                <a:lnTo>
                  <a:pt x="0" y="7557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4">
              <a:alphaModFix amt="93000"/>
            </a:blip>
            <a:stretch>
              <a:fillRect l="0" t="-3097" r="0" b="-1542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259300" y="9258300"/>
            <a:ext cx="1028700" cy="1028700"/>
            <a:chOff x="0" y="0"/>
            <a:chExt cx="270933" cy="270933"/>
          </a:xfrm>
        </p:grpSpPr>
        <p:sp>
          <p:nvSpPr>
            <p:cNvPr name="Freeform 9" id="9"/>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FFBD59"/>
            </a:solidFill>
          </p:spPr>
        </p:sp>
        <p:sp>
          <p:nvSpPr>
            <p:cNvPr name="TextBox 10" id="10"/>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028700" y="3470390"/>
            <a:ext cx="7384897" cy="4036278"/>
          </a:xfrm>
          <a:custGeom>
            <a:avLst/>
            <a:gdLst/>
            <a:ahLst/>
            <a:cxnLst/>
            <a:rect r="r" b="b" t="t" l="l"/>
            <a:pathLst>
              <a:path h="4036278" w="7384897">
                <a:moveTo>
                  <a:pt x="0" y="0"/>
                </a:moveTo>
                <a:lnTo>
                  <a:pt x="7384897" y="0"/>
                </a:lnTo>
                <a:lnTo>
                  <a:pt x="7384897" y="4036278"/>
                </a:lnTo>
                <a:lnTo>
                  <a:pt x="0" y="4036278"/>
                </a:lnTo>
                <a:lnTo>
                  <a:pt x="0" y="0"/>
                </a:lnTo>
                <a:close/>
              </a:path>
            </a:pathLst>
          </a:custGeom>
          <a:blipFill>
            <a:blip r:embed="rId2"/>
            <a:stretch>
              <a:fillRect l="0" t="0" r="0" b="-4394"/>
            </a:stretch>
          </a:blipFill>
        </p:spPr>
      </p:sp>
      <p:sp>
        <p:nvSpPr>
          <p:cNvPr name="TextBox 12" id="12"/>
          <p:cNvSpPr txBox="true"/>
          <p:nvPr/>
        </p:nvSpPr>
        <p:spPr>
          <a:xfrm rot="0">
            <a:off x="1039108" y="517674"/>
            <a:ext cx="168537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Ingoude Company</a:t>
            </a:r>
          </a:p>
        </p:txBody>
      </p:sp>
      <p:sp>
        <p:nvSpPr>
          <p:cNvPr name="TextBox 13" id="13"/>
          <p:cNvSpPr txBox="true"/>
          <p:nvPr/>
        </p:nvSpPr>
        <p:spPr>
          <a:xfrm rot="0">
            <a:off x="17521771" y="9626320"/>
            <a:ext cx="503758" cy="264086"/>
          </a:xfrm>
          <a:prstGeom prst="rect">
            <a:avLst/>
          </a:prstGeom>
        </p:spPr>
        <p:txBody>
          <a:bodyPr anchor="t" rtlCol="false" tIns="0" lIns="0" bIns="0" rIns="0">
            <a:spAutoFit/>
          </a:bodyPr>
          <a:lstStyle/>
          <a:p>
            <a:pPr algn="ctr">
              <a:lnSpc>
                <a:spcPts val="2239"/>
              </a:lnSpc>
            </a:pPr>
            <a:r>
              <a:rPr lang="en-US" b="true" sz="1599">
                <a:solidFill>
                  <a:srgbClr val="FFFFFF"/>
                </a:solidFill>
                <a:latin typeface="Open Sans Bold"/>
                <a:ea typeface="Open Sans Bold"/>
                <a:cs typeface="Open Sans Bold"/>
                <a:sym typeface="Open Sans Bold"/>
              </a:rPr>
              <a:t>02</a:t>
            </a:r>
          </a:p>
        </p:txBody>
      </p:sp>
      <p:sp>
        <p:nvSpPr>
          <p:cNvPr name="TextBox 14" id="14"/>
          <p:cNvSpPr txBox="true"/>
          <p:nvPr/>
        </p:nvSpPr>
        <p:spPr>
          <a:xfrm rot="0">
            <a:off x="843893" y="1465867"/>
            <a:ext cx="15161545" cy="971973"/>
          </a:xfrm>
          <a:prstGeom prst="rect">
            <a:avLst/>
          </a:prstGeom>
        </p:spPr>
        <p:txBody>
          <a:bodyPr anchor="t" rtlCol="false" tIns="0" lIns="0" bIns="0" rIns="0">
            <a:spAutoFit/>
          </a:bodyPr>
          <a:lstStyle/>
          <a:p>
            <a:pPr algn="l">
              <a:lnSpc>
                <a:spcPts val="7985"/>
              </a:lnSpc>
              <a:spcBef>
                <a:spcPct val="0"/>
              </a:spcBef>
            </a:pPr>
            <a:r>
              <a:rPr lang="en-US" b="true" sz="5703">
                <a:solidFill>
                  <a:srgbClr val="1F2020"/>
                </a:solidFill>
                <a:latin typeface="Montserrat Bold"/>
                <a:ea typeface="Montserrat Bold"/>
                <a:cs typeface="Montserrat Bold"/>
                <a:sym typeface="Montserrat Bold"/>
              </a:rPr>
              <a:t>WHAT IS A TITLE TAG?</a:t>
            </a:r>
          </a:p>
        </p:txBody>
      </p:sp>
      <p:sp>
        <p:nvSpPr>
          <p:cNvPr name="TextBox 15" id="15"/>
          <p:cNvSpPr txBox="true"/>
          <p:nvPr/>
        </p:nvSpPr>
        <p:spPr>
          <a:xfrm rot="0">
            <a:off x="8899650" y="3403715"/>
            <a:ext cx="8790832" cy="3114564"/>
          </a:xfrm>
          <a:prstGeom prst="rect">
            <a:avLst/>
          </a:prstGeom>
        </p:spPr>
        <p:txBody>
          <a:bodyPr anchor="t" rtlCol="false" tIns="0" lIns="0" bIns="0" rIns="0">
            <a:spAutoFit/>
          </a:bodyPr>
          <a:lstStyle/>
          <a:p>
            <a:pPr algn="just">
              <a:lnSpc>
                <a:spcPts val="5011"/>
              </a:lnSpc>
              <a:spcBef>
                <a:spcPct val="0"/>
              </a:spcBef>
            </a:pPr>
            <a:r>
              <a:rPr lang="en-US" sz="3579">
                <a:solidFill>
                  <a:srgbClr val="1F2020"/>
                </a:solidFill>
                <a:latin typeface="Open Sans"/>
                <a:ea typeface="Open Sans"/>
                <a:cs typeface="Open Sans"/>
                <a:sym typeface="Open Sans"/>
              </a:rPr>
              <a:t>Think of a title tag as the headline of your webpage. It’s the first thing people notice when your page shows up on Google, and honestly, it often decides whether they click or scroll past.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259300" y="9258300"/>
            <a:ext cx="1028700" cy="1028700"/>
            <a:chOff x="0" y="0"/>
            <a:chExt cx="270933" cy="270933"/>
          </a:xfrm>
        </p:grpSpPr>
        <p:sp>
          <p:nvSpPr>
            <p:cNvPr name="Freeform 9" id="9"/>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FFBD59"/>
            </a:solidFill>
          </p:spPr>
        </p:sp>
        <p:sp>
          <p:nvSpPr>
            <p:cNvPr name="TextBox 10" id="10"/>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0" y="6816537"/>
            <a:ext cx="18288000" cy="4241188"/>
          </a:xfrm>
          <a:custGeom>
            <a:avLst/>
            <a:gdLst/>
            <a:ahLst/>
            <a:cxnLst/>
            <a:rect r="r" b="b" t="t" l="l"/>
            <a:pathLst>
              <a:path h="4241188" w="18288000">
                <a:moveTo>
                  <a:pt x="0" y="0"/>
                </a:moveTo>
                <a:lnTo>
                  <a:pt x="18288000" y="0"/>
                </a:lnTo>
                <a:lnTo>
                  <a:pt x="18288000" y="4241187"/>
                </a:lnTo>
                <a:lnTo>
                  <a:pt x="0" y="4241187"/>
                </a:lnTo>
                <a:lnTo>
                  <a:pt x="0" y="0"/>
                </a:lnTo>
                <a:close/>
              </a:path>
            </a:pathLst>
          </a:custGeom>
          <a:blipFill>
            <a:blip r:embed="rId2">
              <a:alphaModFix amt="76000"/>
            </a:blip>
            <a:stretch>
              <a:fillRect l="0" t="-116591" r="0" b="-122954"/>
            </a:stretch>
          </a:blipFill>
        </p:spPr>
      </p:sp>
      <p:sp>
        <p:nvSpPr>
          <p:cNvPr name="TextBox 12" id="12"/>
          <p:cNvSpPr txBox="true"/>
          <p:nvPr/>
        </p:nvSpPr>
        <p:spPr>
          <a:xfrm rot="0">
            <a:off x="17521771" y="9626320"/>
            <a:ext cx="503758" cy="264086"/>
          </a:xfrm>
          <a:prstGeom prst="rect">
            <a:avLst/>
          </a:prstGeom>
        </p:spPr>
        <p:txBody>
          <a:bodyPr anchor="t" rtlCol="false" tIns="0" lIns="0" bIns="0" rIns="0">
            <a:spAutoFit/>
          </a:bodyPr>
          <a:lstStyle/>
          <a:p>
            <a:pPr algn="ctr">
              <a:lnSpc>
                <a:spcPts val="2239"/>
              </a:lnSpc>
            </a:pPr>
            <a:r>
              <a:rPr lang="en-US" b="true" sz="1599">
                <a:solidFill>
                  <a:srgbClr val="FFFFFF"/>
                </a:solidFill>
                <a:latin typeface="Open Sans Bold"/>
                <a:ea typeface="Open Sans Bold"/>
                <a:cs typeface="Open Sans Bold"/>
                <a:sym typeface="Open Sans Bold"/>
              </a:rPr>
              <a:t>03</a:t>
            </a:r>
          </a:p>
        </p:txBody>
      </p:sp>
      <p:sp>
        <p:nvSpPr>
          <p:cNvPr name="TextBox 13" id="13"/>
          <p:cNvSpPr txBox="true"/>
          <p:nvPr/>
        </p:nvSpPr>
        <p:spPr>
          <a:xfrm rot="0">
            <a:off x="1721796" y="743884"/>
            <a:ext cx="13679652" cy="1531580"/>
          </a:xfrm>
          <a:prstGeom prst="rect">
            <a:avLst/>
          </a:prstGeom>
        </p:spPr>
        <p:txBody>
          <a:bodyPr anchor="t" rtlCol="false" tIns="0" lIns="0" bIns="0" rIns="0">
            <a:spAutoFit/>
          </a:bodyPr>
          <a:lstStyle/>
          <a:p>
            <a:pPr algn="l">
              <a:lnSpc>
                <a:spcPts val="5937"/>
              </a:lnSpc>
            </a:pPr>
            <a:r>
              <a:rPr lang="en-US" b="true" sz="5497">
                <a:solidFill>
                  <a:srgbClr val="1F2020"/>
                </a:solidFill>
                <a:latin typeface="Montserrat Bold"/>
                <a:ea typeface="Montserrat Bold"/>
                <a:cs typeface="Montserrat Bold"/>
                <a:sym typeface="Montserrat Bold"/>
              </a:rPr>
              <a:t>HOW TO WRITE A TITLE TAG THAT WORKS</a:t>
            </a:r>
          </a:p>
        </p:txBody>
      </p:sp>
      <p:sp>
        <p:nvSpPr>
          <p:cNvPr name="TextBox 14" id="14"/>
          <p:cNvSpPr txBox="true"/>
          <p:nvPr/>
        </p:nvSpPr>
        <p:spPr>
          <a:xfrm rot="0">
            <a:off x="1687980" y="2189739"/>
            <a:ext cx="15571320" cy="4057696"/>
          </a:xfrm>
          <a:prstGeom prst="rect">
            <a:avLst/>
          </a:prstGeom>
        </p:spPr>
        <p:txBody>
          <a:bodyPr anchor="t" rtlCol="false" tIns="0" lIns="0" bIns="0" rIns="0">
            <a:spAutoFit/>
          </a:bodyPr>
          <a:lstStyle/>
          <a:p>
            <a:pPr algn="l" marL="964526" indent="-482263" lvl="1">
              <a:lnSpc>
                <a:spcPts val="6254"/>
              </a:lnSpc>
              <a:buFont typeface="Arial"/>
              <a:buChar char="•"/>
            </a:pPr>
            <a:r>
              <a:rPr lang="en-US" sz="4467">
                <a:solidFill>
                  <a:srgbClr val="1F2020"/>
                </a:solidFill>
                <a:latin typeface="Open Sans"/>
                <a:ea typeface="Open Sans"/>
                <a:cs typeface="Open Sans"/>
                <a:sym typeface="Open Sans"/>
              </a:rPr>
              <a:t>Keep it short — around 50–60 characters</a:t>
            </a:r>
          </a:p>
          <a:p>
            <a:pPr algn="l" marL="964526" indent="-482263" lvl="1">
              <a:lnSpc>
                <a:spcPts val="6254"/>
              </a:lnSpc>
              <a:buFont typeface="Arial"/>
              <a:buChar char="•"/>
            </a:pPr>
            <a:r>
              <a:rPr lang="en-US" sz="4467">
                <a:solidFill>
                  <a:srgbClr val="1F2020"/>
                </a:solidFill>
                <a:latin typeface="Open Sans"/>
                <a:ea typeface="Open Sans"/>
                <a:cs typeface="Open Sans"/>
                <a:sym typeface="Open Sans"/>
              </a:rPr>
              <a:t>Put your main keyword near the beginning</a:t>
            </a:r>
          </a:p>
          <a:p>
            <a:pPr algn="l" marL="964526" indent="-482263" lvl="1">
              <a:lnSpc>
                <a:spcPts val="6254"/>
              </a:lnSpc>
              <a:buFont typeface="Arial"/>
              <a:buChar char="•"/>
            </a:pPr>
            <a:r>
              <a:rPr lang="en-US" sz="4467">
                <a:solidFill>
                  <a:srgbClr val="1F2020"/>
                </a:solidFill>
                <a:latin typeface="Open Sans"/>
                <a:ea typeface="Open Sans"/>
                <a:cs typeface="Open Sans"/>
                <a:sym typeface="Open Sans"/>
              </a:rPr>
              <a:t>Make it sound natural, not forced</a:t>
            </a:r>
          </a:p>
          <a:p>
            <a:pPr algn="l" marL="964526" indent="-482263" lvl="1">
              <a:lnSpc>
                <a:spcPts val="6254"/>
              </a:lnSpc>
              <a:buFont typeface="Arial"/>
              <a:buChar char="•"/>
            </a:pPr>
            <a:r>
              <a:rPr lang="en-US" sz="4467">
                <a:solidFill>
                  <a:srgbClr val="1F2020"/>
                </a:solidFill>
                <a:latin typeface="Open Sans"/>
                <a:ea typeface="Open Sans"/>
                <a:cs typeface="Open Sans"/>
                <a:sym typeface="Open Sans"/>
              </a:rPr>
              <a:t>Add your brand name if it makes sense</a:t>
            </a:r>
          </a:p>
          <a:p>
            <a:pPr algn="l">
              <a:lnSpc>
                <a:spcPts val="7390"/>
              </a:lnSpc>
              <a:spcBef>
                <a:spcPct val="0"/>
              </a:spcBef>
            </a:pPr>
          </a:p>
        </p:txBody>
      </p:sp>
      <p:sp>
        <p:nvSpPr>
          <p:cNvPr name="TextBox 15" id="15"/>
          <p:cNvSpPr txBox="true"/>
          <p:nvPr/>
        </p:nvSpPr>
        <p:spPr>
          <a:xfrm rot="0">
            <a:off x="2223081" y="5452662"/>
            <a:ext cx="12677081" cy="646431"/>
          </a:xfrm>
          <a:prstGeom prst="rect">
            <a:avLst/>
          </a:prstGeom>
        </p:spPr>
        <p:txBody>
          <a:bodyPr anchor="t" rtlCol="false" tIns="0" lIns="0" bIns="0" rIns="0">
            <a:spAutoFit/>
          </a:bodyPr>
          <a:lstStyle/>
          <a:p>
            <a:pPr algn="ctr">
              <a:lnSpc>
                <a:spcPts val="5319"/>
              </a:lnSpc>
              <a:spcBef>
                <a:spcPct val="0"/>
              </a:spcBef>
            </a:pPr>
            <a:r>
              <a:rPr lang="en-US" sz="3799" u="sng">
                <a:solidFill>
                  <a:srgbClr val="000000"/>
                </a:solidFill>
                <a:latin typeface="Canva Sans"/>
                <a:ea typeface="Canva Sans"/>
                <a:cs typeface="Canva Sans"/>
                <a:sym typeface="Canva Sans"/>
                <a:hlinkClick r:id="rId3" tooltip="https://kglimson.com"/>
              </a:rPr>
              <a:t>Explore the full guide on Title tags &amp; Meta Description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259300" y="9258300"/>
            <a:ext cx="1028700" cy="1028700"/>
            <a:chOff x="0" y="0"/>
            <a:chExt cx="270933" cy="270933"/>
          </a:xfrm>
        </p:grpSpPr>
        <p:sp>
          <p:nvSpPr>
            <p:cNvPr name="Freeform 9" id="9"/>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FFBD59"/>
            </a:solidFill>
          </p:spPr>
        </p:sp>
        <p:sp>
          <p:nvSpPr>
            <p:cNvPr name="TextBox 10" id="10"/>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9660303" y="2166591"/>
            <a:ext cx="8276431" cy="6621145"/>
          </a:xfrm>
          <a:custGeom>
            <a:avLst/>
            <a:gdLst/>
            <a:ahLst/>
            <a:cxnLst/>
            <a:rect r="r" b="b" t="t" l="l"/>
            <a:pathLst>
              <a:path h="6621145" w="8276431">
                <a:moveTo>
                  <a:pt x="0" y="0"/>
                </a:moveTo>
                <a:lnTo>
                  <a:pt x="8276431" y="0"/>
                </a:lnTo>
                <a:lnTo>
                  <a:pt x="8276431" y="6621145"/>
                </a:lnTo>
                <a:lnTo>
                  <a:pt x="0" y="6621145"/>
                </a:lnTo>
                <a:lnTo>
                  <a:pt x="0" y="0"/>
                </a:lnTo>
                <a:close/>
              </a:path>
            </a:pathLst>
          </a:custGeom>
          <a:blipFill>
            <a:blip r:embed="rId2"/>
            <a:stretch>
              <a:fillRect l="0" t="0" r="0" b="0"/>
            </a:stretch>
          </a:blipFill>
        </p:spPr>
      </p:sp>
      <p:sp>
        <p:nvSpPr>
          <p:cNvPr name="TextBox 12" id="12"/>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3" id="13"/>
          <p:cNvSpPr txBox="true"/>
          <p:nvPr/>
        </p:nvSpPr>
        <p:spPr>
          <a:xfrm rot="0">
            <a:off x="17521771" y="9626320"/>
            <a:ext cx="503758" cy="264160"/>
          </a:xfrm>
          <a:prstGeom prst="rect">
            <a:avLst/>
          </a:prstGeom>
        </p:spPr>
        <p:txBody>
          <a:bodyPr anchor="t" rtlCol="false" tIns="0" lIns="0" bIns="0" rIns="0">
            <a:spAutoFit/>
          </a:bodyPr>
          <a:lstStyle/>
          <a:p>
            <a:pPr algn="ctr">
              <a:lnSpc>
                <a:spcPts val="2239"/>
              </a:lnSpc>
            </a:pPr>
            <a:r>
              <a:rPr lang="en-US" b="true" sz="1599">
                <a:solidFill>
                  <a:srgbClr val="FFFFFF"/>
                </a:solidFill>
                <a:latin typeface="Open Sans Bold"/>
                <a:ea typeface="Open Sans Bold"/>
                <a:cs typeface="Open Sans Bold"/>
                <a:sym typeface="Open Sans Bold"/>
              </a:rPr>
              <a:t>04</a:t>
            </a:r>
          </a:p>
        </p:txBody>
      </p:sp>
      <p:sp>
        <p:nvSpPr>
          <p:cNvPr name="TextBox 14" id="14"/>
          <p:cNvSpPr txBox="true"/>
          <p:nvPr/>
        </p:nvSpPr>
        <p:spPr>
          <a:xfrm rot="0">
            <a:off x="1422133" y="2312709"/>
            <a:ext cx="5727291" cy="1531580"/>
          </a:xfrm>
          <a:prstGeom prst="rect">
            <a:avLst/>
          </a:prstGeom>
        </p:spPr>
        <p:txBody>
          <a:bodyPr anchor="t" rtlCol="false" tIns="0" lIns="0" bIns="0" rIns="0">
            <a:spAutoFit/>
          </a:bodyPr>
          <a:lstStyle/>
          <a:p>
            <a:pPr algn="l">
              <a:lnSpc>
                <a:spcPts val="5937"/>
              </a:lnSpc>
            </a:pPr>
            <a:r>
              <a:rPr lang="en-US" b="true" sz="5497">
                <a:solidFill>
                  <a:srgbClr val="1F2020"/>
                </a:solidFill>
                <a:latin typeface="Montserrat Bold"/>
                <a:ea typeface="Montserrat Bold"/>
                <a:cs typeface="Montserrat Bold"/>
                <a:sym typeface="Montserrat Bold"/>
              </a:rPr>
              <a:t>META DESCRIPTION</a:t>
            </a:r>
          </a:p>
        </p:txBody>
      </p:sp>
      <p:sp>
        <p:nvSpPr>
          <p:cNvPr name="TextBox 15" id="15"/>
          <p:cNvSpPr txBox="true"/>
          <p:nvPr/>
        </p:nvSpPr>
        <p:spPr>
          <a:xfrm rot="0">
            <a:off x="1422133" y="4168140"/>
            <a:ext cx="5813095" cy="1893571"/>
          </a:xfrm>
          <a:prstGeom prst="rect">
            <a:avLst/>
          </a:prstGeom>
        </p:spPr>
        <p:txBody>
          <a:bodyPr anchor="t" rtlCol="false" tIns="0" lIns="0" bIns="0" rIns="0">
            <a:spAutoFit/>
          </a:bodyPr>
          <a:lstStyle/>
          <a:p>
            <a:pPr algn="just">
              <a:lnSpc>
                <a:spcPts val="3779"/>
              </a:lnSpc>
              <a:spcBef>
                <a:spcPct val="0"/>
              </a:spcBef>
            </a:pPr>
            <a:r>
              <a:rPr lang="en-US" sz="2699">
                <a:solidFill>
                  <a:srgbClr val="1F2020"/>
                </a:solidFill>
                <a:latin typeface="Open Sans"/>
                <a:ea typeface="Open Sans"/>
                <a:cs typeface="Open Sans"/>
                <a:sym typeface="Open Sans"/>
              </a:rPr>
              <a:t>A meta description is the short paragraph under your title in search results. It’s like your quick pitch to the reader</a:t>
            </a:r>
          </a:p>
        </p:txBody>
      </p:sp>
      <p:sp>
        <p:nvSpPr>
          <p:cNvPr name="TextBox 16" id="16"/>
          <p:cNvSpPr txBox="true"/>
          <p:nvPr/>
        </p:nvSpPr>
        <p:spPr>
          <a:xfrm rot="0">
            <a:off x="1422133" y="7521574"/>
            <a:ext cx="6646616" cy="1736726"/>
          </a:xfrm>
          <a:prstGeom prst="rect">
            <a:avLst/>
          </a:prstGeom>
        </p:spPr>
        <p:txBody>
          <a:bodyPr anchor="t" rtlCol="false" tIns="0" lIns="0" bIns="0" rIns="0">
            <a:spAutoFit/>
          </a:bodyPr>
          <a:lstStyle/>
          <a:p>
            <a:pPr algn="l">
              <a:lnSpc>
                <a:spcPts val="3499"/>
              </a:lnSpc>
              <a:spcBef>
                <a:spcPct val="0"/>
              </a:spcBef>
            </a:pPr>
            <a:r>
              <a:rPr lang="en-US" sz="2499">
                <a:solidFill>
                  <a:srgbClr val="1F2020"/>
                </a:solidFill>
                <a:latin typeface="Open Sans"/>
                <a:ea typeface="Open Sans"/>
                <a:cs typeface="Open Sans"/>
                <a:sym typeface="Open Sans"/>
              </a:rPr>
              <a:t>&lt;meta name="description" content="Discover the best budget smartphones in 2026 with expert reviews, comparisons, and buying tips."&gt;</a:t>
            </a:r>
          </a:p>
        </p:txBody>
      </p:sp>
      <p:sp>
        <p:nvSpPr>
          <p:cNvPr name="TextBox 17" id="17"/>
          <p:cNvSpPr txBox="true"/>
          <p:nvPr/>
        </p:nvSpPr>
        <p:spPr>
          <a:xfrm rot="0">
            <a:off x="568562" y="6562725"/>
            <a:ext cx="3436489" cy="448311"/>
          </a:xfrm>
          <a:prstGeom prst="rect">
            <a:avLst/>
          </a:prstGeom>
        </p:spPr>
        <p:txBody>
          <a:bodyPr anchor="t" rtlCol="false" tIns="0" lIns="0" bIns="0" rIns="0">
            <a:spAutoFit/>
          </a:bodyPr>
          <a:lstStyle/>
          <a:p>
            <a:pPr algn="ctr">
              <a:lnSpc>
                <a:spcPts val="3639"/>
              </a:lnSpc>
              <a:spcBef>
                <a:spcPct val="0"/>
              </a:spcBef>
            </a:pPr>
            <a:r>
              <a:rPr lang="en-US" b="true" sz="2599">
                <a:solidFill>
                  <a:srgbClr val="FFBD59"/>
                </a:solidFill>
                <a:latin typeface="Open Sans Bold"/>
                <a:ea typeface="Open Sans Bold"/>
                <a:cs typeface="Open Sans Bold"/>
                <a:sym typeface="Open Sans Bold"/>
              </a:rPr>
              <a:t>Html Code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259300" y="9258300"/>
            <a:ext cx="1028700" cy="1028700"/>
            <a:chOff x="0" y="0"/>
            <a:chExt cx="270933" cy="270933"/>
          </a:xfrm>
        </p:grpSpPr>
        <p:sp>
          <p:nvSpPr>
            <p:cNvPr name="Freeform 9" id="9"/>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FFBD59"/>
            </a:solidFill>
          </p:spPr>
        </p:sp>
        <p:sp>
          <p:nvSpPr>
            <p:cNvPr name="TextBox 10" id="10"/>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453988" y="2090616"/>
            <a:ext cx="807124" cy="80712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BD59"/>
            </a:solidFill>
          </p:spPr>
        </p:sp>
        <p:sp>
          <p:nvSpPr>
            <p:cNvPr name="TextBox 13" id="13"/>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0453988" y="3856830"/>
            <a:ext cx="807124" cy="80712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BD59"/>
            </a:solidFill>
          </p:spPr>
        </p:sp>
        <p:sp>
          <p:nvSpPr>
            <p:cNvPr name="TextBox 16" id="16"/>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0453988" y="5623045"/>
            <a:ext cx="807124" cy="80712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BD59"/>
            </a:solidFill>
          </p:spPr>
        </p:sp>
        <p:sp>
          <p:nvSpPr>
            <p:cNvPr name="TextBox 19" id="19"/>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0453988" y="7389260"/>
            <a:ext cx="807124" cy="807124"/>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BD59"/>
            </a:solidFill>
          </p:spPr>
        </p:sp>
        <p:sp>
          <p:nvSpPr>
            <p:cNvPr name="TextBox 22" id="22"/>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454749" y="2660897"/>
            <a:ext cx="9234470" cy="5843206"/>
          </a:xfrm>
          <a:custGeom>
            <a:avLst/>
            <a:gdLst/>
            <a:ahLst/>
            <a:cxnLst/>
            <a:rect r="r" b="b" t="t" l="l"/>
            <a:pathLst>
              <a:path h="5843206" w="9234470">
                <a:moveTo>
                  <a:pt x="0" y="0"/>
                </a:moveTo>
                <a:lnTo>
                  <a:pt x="9234470" y="0"/>
                </a:lnTo>
                <a:lnTo>
                  <a:pt x="9234470" y="5843205"/>
                </a:lnTo>
                <a:lnTo>
                  <a:pt x="0" y="5843205"/>
                </a:lnTo>
                <a:lnTo>
                  <a:pt x="0" y="0"/>
                </a:lnTo>
                <a:close/>
              </a:path>
            </a:pathLst>
          </a:custGeom>
          <a:blipFill>
            <a:blip r:embed="rId2"/>
            <a:stretch>
              <a:fillRect l="0" t="-10809" r="0" b="-10809"/>
            </a:stretch>
          </a:blipFill>
        </p:spPr>
      </p:sp>
      <p:sp>
        <p:nvSpPr>
          <p:cNvPr name="TextBox 24" id="24"/>
          <p:cNvSpPr txBox="true"/>
          <p:nvPr/>
        </p:nvSpPr>
        <p:spPr>
          <a:xfrm rot="0">
            <a:off x="17521771" y="9626320"/>
            <a:ext cx="503758" cy="264160"/>
          </a:xfrm>
          <a:prstGeom prst="rect">
            <a:avLst/>
          </a:prstGeom>
        </p:spPr>
        <p:txBody>
          <a:bodyPr anchor="t" rtlCol="false" tIns="0" lIns="0" bIns="0" rIns="0">
            <a:spAutoFit/>
          </a:bodyPr>
          <a:lstStyle/>
          <a:p>
            <a:pPr algn="ctr">
              <a:lnSpc>
                <a:spcPts val="2239"/>
              </a:lnSpc>
            </a:pPr>
            <a:r>
              <a:rPr lang="en-US" b="true" sz="1599">
                <a:solidFill>
                  <a:srgbClr val="FFFFFF"/>
                </a:solidFill>
                <a:latin typeface="Open Sans Bold"/>
                <a:ea typeface="Open Sans Bold"/>
                <a:cs typeface="Open Sans Bold"/>
                <a:sym typeface="Open Sans Bold"/>
              </a:rPr>
              <a:t>05</a:t>
            </a:r>
          </a:p>
        </p:txBody>
      </p:sp>
      <p:sp>
        <p:nvSpPr>
          <p:cNvPr name="TextBox 25" id="25"/>
          <p:cNvSpPr txBox="true"/>
          <p:nvPr/>
        </p:nvSpPr>
        <p:spPr>
          <a:xfrm rot="0">
            <a:off x="10581484" y="2289360"/>
            <a:ext cx="552131" cy="371537"/>
          </a:xfrm>
          <a:prstGeom prst="rect">
            <a:avLst/>
          </a:prstGeom>
        </p:spPr>
        <p:txBody>
          <a:bodyPr anchor="t" rtlCol="false" tIns="0" lIns="0" bIns="0" rIns="0">
            <a:spAutoFit/>
          </a:bodyPr>
          <a:lstStyle/>
          <a:p>
            <a:pPr algn="ctr">
              <a:lnSpc>
                <a:spcPts val="3096"/>
              </a:lnSpc>
              <a:spcBef>
                <a:spcPct val="0"/>
              </a:spcBef>
            </a:pPr>
            <a:r>
              <a:rPr lang="en-US" b="true" sz="2212">
                <a:solidFill>
                  <a:srgbClr val="FFFFFF"/>
                </a:solidFill>
                <a:latin typeface="Open Sans Bold"/>
                <a:ea typeface="Open Sans Bold"/>
                <a:cs typeface="Open Sans Bold"/>
                <a:sym typeface="Open Sans Bold"/>
              </a:rPr>
              <a:t>01</a:t>
            </a:r>
          </a:p>
        </p:txBody>
      </p:sp>
      <p:sp>
        <p:nvSpPr>
          <p:cNvPr name="TextBox 26" id="26"/>
          <p:cNvSpPr txBox="true"/>
          <p:nvPr/>
        </p:nvSpPr>
        <p:spPr>
          <a:xfrm rot="0">
            <a:off x="11664836" y="2033466"/>
            <a:ext cx="4765237" cy="448311"/>
          </a:xfrm>
          <a:prstGeom prst="rect">
            <a:avLst/>
          </a:prstGeom>
        </p:spPr>
        <p:txBody>
          <a:bodyPr anchor="t" rtlCol="false" tIns="0" lIns="0" bIns="0" rIns="0">
            <a:spAutoFit/>
          </a:bodyPr>
          <a:lstStyle/>
          <a:p>
            <a:pPr algn="l">
              <a:lnSpc>
                <a:spcPts val="3639"/>
              </a:lnSpc>
              <a:spcBef>
                <a:spcPct val="0"/>
              </a:spcBef>
            </a:pPr>
            <a:r>
              <a:rPr lang="en-US" sz="2599">
                <a:solidFill>
                  <a:srgbClr val="1F2020"/>
                </a:solidFill>
                <a:latin typeface="Open Sans"/>
                <a:ea typeface="Open Sans"/>
                <a:cs typeface="Open Sans"/>
                <a:sym typeface="Open Sans"/>
              </a:rPr>
              <a:t>Gives people a reason to click</a:t>
            </a:r>
          </a:p>
        </p:txBody>
      </p:sp>
      <p:sp>
        <p:nvSpPr>
          <p:cNvPr name="TextBox 27" id="27"/>
          <p:cNvSpPr txBox="true"/>
          <p:nvPr/>
        </p:nvSpPr>
        <p:spPr>
          <a:xfrm rot="0">
            <a:off x="10581484" y="4055574"/>
            <a:ext cx="552131" cy="371537"/>
          </a:xfrm>
          <a:prstGeom prst="rect">
            <a:avLst/>
          </a:prstGeom>
        </p:spPr>
        <p:txBody>
          <a:bodyPr anchor="t" rtlCol="false" tIns="0" lIns="0" bIns="0" rIns="0">
            <a:spAutoFit/>
          </a:bodyPr>
          <a:lstStyle/>
          <a:p>
            <a:pPr algn="ctr">
              <a:lnSpc>
                <a:spcPts val="3096"/>
              </a:lnSpc>
              <a:spcBef>
                <a:spcPct val="0"/>
              </a:spcBef>
            </a:pPr>
            <a:r>
              <a:rPr lang="en-US" b="true" sz="2212">
                <a:solidFill>
                  <a:srgbClr val="FFFFFF"/>
                </a:solidFill>
                <a:latin typeface="Open Sans Bold"/>
                <a:ea typeface="Open Sans Bold"/>
                <a:cs typeface="Open Sans Bold"/>
                <a:sym typeface="Open Sans Bold"/>
              </a:rPr>
              <a:t>02</a:t>
            </a:r>
          </a:p>
        </p:txBody>
      </p:sp>
      <p:sp>
        <p:nvSpPr>
          <p:cNvPr name="TextBox 28" id="28"/>
          <p:cNvSpPr txBox="true"/>
          <p:nvPr/>
        </p:nvSpPr>
        <p:spPr>
          <a:xfrm rot="0">
            <a:off x="11664836" y="3799680"/>
            <a:ext cx="4765237" cy="905511"/>
          </a:xfrm>
          <a:prstGeom prst="rect">
            <a:avLst/>
          </a:prstGeom>
        </p:spPr>
        <p:txBody>
          <a:bodyPr anchor="t" rtlCol="false" tIns="0" lIns="0" bIns="0" rIns="0">
            <a:spAutoFit/>
          </a:bodyPr>
          <a:lstStyle/>
          <a:p>
            <a:pPr algn="l">
              <a:lnSpc>
                <a:spcPts val="3639"/>
              </a:lnSpc>
              <a:spcBef>
                <a:spcPct val="0"/>
              </a:spcBef>
            </a:pPr>
            <a:r>
              <a:rPr lang="en-US" sz="2599">
                <a:solidFill>
                  <a:srgbClr val="1F2020"/>
                </a:solidFill>
                <a:latin typeface="Open Sans"/>
                <a:ea typeface="Open Sans"/>
                <a:cs typeface="Open Sans"/>
                <a:sym typeface="Open Sans"/>
              </a:rPr>
              <a:t>Summarizes your content clearly</a:t>
            </a:r>
          </a:p>
        </p:txBody>
      </p:sp>
      <p:sp>
        <p:nvSpPr>
          <p:cNvPr name="TextBox 29" id="29"/>
          <p:cNvSpPr txBox="true"/>
          <p:nvPr/>
        </p:nvSpPr>
        <p:spPr>
          <a:xfrm rot="0">
            <a:off x="10581484" y="5821789"/>
            <a:ext cx="552131" cy="371537"/>
          </a:xfrm>
          <a:prstGeom prst="rect">
            <a:avLst/>
          </a:prstGeom>
        </p:spPr>
        <p:txBody>
          <a:bodyPr anchor="t" rtlCol="false" tIns="0" lIns="0" bIns="0" rIns="0">
            <a:spAutoFit/>
          </a:bodyPr>
          <a:lstStyle/>
          <a:p>
            <a:pPr algn="ctr">
              <a:lnSpc>
                <a:spcPts val="3096"/>
              </a:lnSpc>
              <a:spcBef>
                <a:spcPct val="0"/>
              </a:spcBef>
            </a:pPr>
            <a:r>
              <a:rPr lang="en-US" b="true" sz="2212">
                <a:solidFill>
                  <a:srgbClr val="FFFFFF"/>
                </a:solidFill>
                <a:latin typeface="Open Sans Bold"/>
                <a:ea typeface="Open Sans Bold"/>
                <a:cs typeface="Open Sans Bold"/>
                <a:sym typeface="Open Sans Bold"/>
              </a:rPr>
              <a:t>03</a:t>
            </a:r>
          </a:p>
        </p:txBody>
      </p:sp>
      <p:sp>
        <p:nvSpPr>
          <p:cNvPr name="TextBox 30" id="30"/>
          <p:cNvSpPr txBox="true"/>
          <p:nvPr/>
        </p:nvSpPr>
        <p:spPr>
          <a:xfrm rot="0">
            <a:off x="11664836" y="5565895"/>
            <a:ext cx="4765237" cy="448311"/>
          </a:xfrm>
          <a:prstGeom prst="rect">
            <a:avLst/>
          </a:prstGeom>
        </p:spPr>
        <p:txBody>
          <a:bodyPr anchor="t" rtlCol="false" tIns="0" lIns="0" bIns="0" rIns="0">
            <a:spAutoFit/>
          </a:bodyPr>
          <a:lstStyle/>
          <a:p>
            <a:pPr algn="l">
              <a:lnSpc>
                <a:spcPts val="3639"/>
              </a:lnSpc>
              <a:spcBef>
                <a:spcPct val="0"/>
              </a:spcBef>
            </a:pPr>
            <a:r>
              <a:rPr lang="en-US" sz="2599">
                <a:solidFill>
                  <a:srgbClr val="1F2020"/>
                </a:solidFill>
                <a:latin typeface="Open Sans"/>
                <a:ea typeface="Open Sans"/>
                <a:cs typeface="Open Sans"/>
                <a:sym typeface="Open Sans"/>
              </a:rPr>
              <a:t>Makes your result stand out</a:t>
            </a:r>
          </a:p>
        </p:txBody>
      </p:sp>
      <p:sp>
        <p:nvSpPr>
          <p:cNvPr name="TextBox 31" id="31"/>
          <p:cNvSpPr txBox="true"/>
          <p:nvPr/>
        </p:nvSpPr>
        <p:spPr>
          <a:xfrm rot="0">
            <a:off x="10581484" y="7588003"/>
            <a:ext cx="552131" cy="371537"/>
          </a:xfrm>
          <a:prstGeom prst="rect">
            <a:avLst/>
          </a:prstGeom>
        </p:spPr>
        <p:txBody>
          <a:bodyPr anchor="t" rtlCol="false" tIns="0" lIns="0" bIns="0" rIns="0">
            <a:spAutoFit/>
          </a:bodyPr>
          <a:lstStyle/>
          <a:p>
            <a:pPr algn="ctr">
              <a:lnSpc>
                <a:spcPts val="3096"/>
              </a:lnSpc>
              <a:spcBef>
                <a:spcPct val="0"/>
              </a:spcBef>
            </a:pPr>
            <a:r>
              <a:rPr lang="en-US" b="true" sz="2212">
                <a:solidFill>
                  <a:srgbClr val="FFFFFF"/>
                </a:solidFill>
                <a:latin typeface="Open Sans Bold"/>
                <a:ea typeface="Open Sans Bold"/>
                <a:cs typeface="Open Sans Bold"/>
                <a:sym typeface="Open Sans Bold"/>
              </a:rPr>
              <a:t>04</a:t>
            </a:r>
          </a:p>
        </p:txBody>
      </p:sp>
      <p:sp>
        <p:nvSpPr>
          <p:cNvPr name="TextBox 32" id="32"/>
          <p:cNvSpPr txBox="true"/>
          <p:nvPr/>
        </p:nvSpPr>
        <p:spPr>
          <a:xfrm rot="0">
            <a:off x="11664836" y="7332110"/>
            <a:ext cx="4765237" cy="905511"/>
          </a:xfrm>
          <a:prstGeom prst="rect">
            <a:avLst/>
          </a:prstGeom>
        </p:spPr>
        <p:txBody>
          <a:bodyPr anchor="t" rtlCol="false" tIns="0" lIns="0" bIns="0" rIns="0">
            <a:spAutoFit/>
          </a:bodyPr>
          <a:lstStyle/>
          <a:p>
            <a:pPr algn="l">
              <a:lnSpc>
                <a:spcPts val="3639"/>
              </a:lnSpc>
              <a:spcBef>
                <a:spcPct val="0"/>
              </a:spcBef>
            </a:pPr>
            <a:r>
              <a:rPr lang="en-US" sz="2599">
                <a:solidFill>
                  <a:srgbClr val="1F2020"/>
                </a:solidFill>
                <a:latin typeface="Open Sans"/>
                <a:ea typeface="Open Sans"/>
                <a:cs typeface="Open Sans"/>
                <a:sym typeface="Open Sans"/>
              </a:rPr>
              <a:t>Adds a human touch to your search result</a:t>
            </a:r>
          </a:p>
        </p:txBody>
      </p:sp>
      <p:sp>
        <p:nvSpPr>
          <p:cNvPr name="TextBox 33" id="33"/>
          <p:cNvSpPr txBox="true"/>
          <p:nvPr/>
        </p:nvSpPr>
        <p:spPr>
          <a:xfrm rot="0">
            <a:off x="454749" y="384181"/>
            <a:ext cx="17773650" cy="1028688"/>
          </a:xfrm>
          <a:prstGeom prst="rect">
            <a:avLst/>
          </a:prstGeom>
        </p:spPr>
        <p:txBody>
          <a:bodyPr anchor="t" rtlCol="false" tIns="0" lIns="0" bIns="0" rIns="0">
            <a:spAutoFit/>
          </a:bodyPr>
          <a:lstStyle/>
          <a:p>
            <a:pPr algn="l">
              <a:lnSpc>
                <a:spcPts val="8400"/>
              </a:lnSpc>
            </a:pPr>
            <a:r>
              <a:rPr lang="en-US" sz="6000" b="true">
                <a:solidFill>
                  <a:srgbClr val="000000"/>
                </a:solidFill>
                <a:latin typeface="Canva Sans Bold"/>
                <a:ea typeface="Canva Sans Bold"/>
                <a:cs typeface="Canva Sans Bold"/>
                <a:sym typeface="Canva Sans Bold"/>
              </a:rPr>
              <a:t>Why Meta Descriptions Are Important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259300" y="9258300"/>
            <a:ext cx="1028700" cy="1028700"/>
            <a:chOff x="0" y="0"/>
            <a:chExt cx="270933" cy="270933"/>
          </a:xfrm>
        </p:grpSpPr>
        <p:sp>
          <p:nvSpPr>
            <p:cNvPr name="Freeform 9" id="9"/>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FFBD59"/>
            </a:solidFill>
          </p:spPr>
        </p:sp>
        <p:sp>
          <p:nvSpPr>
            <p:cNvPr name="TextBox 10" id="10"/>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4966914" y="1822414"/>
            <a:ext cx="3321086" cy="3321086"/>
            <a:chOff x="0" y="0"/>
            <a:chExt cx="4428114" cy="4428114"/>
          </a:xfrm>
        </p:grpSpPr>
        <p:pic>
          <p:nvPicPr>
            <p:cNvPr name="Picture 12" id="12"/>
            <p:cNvPicPr>
              <a:picLocks noChangeAspect="true"/>
            </p:cNvPicPr>
            <p:nvPr/>
          </p:nvPicPr>
          <p:blipFill>
            <a:blip r:embed="rId2"/>
            <a:srcRect l="20157" t="0" r="23123" b="0"/>
            <a:stretch>
              <a:fillRect/>
            </a:stretch>
          </p:blipFill>
          <p:spPr>
            <a:xfrm flipH="false" flipV="false">
              <a:off x="0" y="0"/>
              <a:ext cx="4428114" cy="4428114"/>
            </a:xfrm>
            <a:prstGeom prst="rect">
              <a:avLst/>
            </a:prstGeom>
          </p:spPr>
        </p:pic>
      </p:grpSp>
      <p:grpSp>
        <p:nvGrpSpPr>
          <p:cNvPr name="Group 13" id="13"/>
          <p:cNvGrpSpPr/>
          <p:nvPr/>
        </p:nvGrpSpPr>
        <p:grpSpPr>
          <a:xfrm rot="0">
            <a:off x="14966914" y="5143500"/>
            <a:ext cx="3321086" cy="3612916"/>
            <a:chOff x="0" y="0"/>
            <a:chExt cx="4428114" cy="4817221"/>
          </a:xfrm>
        </p:grpSpPr>
        <p:pic>
          <p:nvPicPr>
            <p:cNvPr name="Picture 14" id="14"/>
            <p:cNvPicPr>
              <a:picLocks noChangeAspect="true"/>
            </p:cNvPicPr>
            <p:nvPr/>
          </p:nvPicPr>
          <p:blipFill>
            <a:blip r:embed="rId3"/>
            <a:srcRect l="14630" t="0" r="14630" b="0"/>
            <a:stretch>
              <a:fillRect/>
            </a:stretch>
          </p:blipFill>
          <p:spPr>
            <a:xfrm flipH="false" flipV="false">
              <a:off x="0" y="0"/>
              <a:ext cx="4428114" cy="4817221"/>
            </a:xfrm>
            <a:prstGeom prst="rect">
              <a:avLst/>
            </a:prstGeom>
          </p:spPr>
        </p:pic>
      </p:grpSp>
      <p:sp>
        <p:nvSpPr>
          <p:cNvPr name="Freeform 15" id="15"/>
          <p:cNvSpPr/>
          <p:nvPr/>
        </p:nvSpPr>
        <p:spPr>
          <a:xfrm flipH="false" flipV="false" rot="0">
            <a:off x="8726350" y="1822414"/>
            <a:ext cx="6240564" cy="6642172"/>
          </a:xfrm>
          <a:custGeom>
            <a:avLst/>
            <a:gdLst/>
            <a:ahLst/>
            <a:cxnLst/>
            <a:rect r="r" b="b" t="t" l="l"/>
            <a:pathLst>
              <a:path h="6642172" w="6240564">
                <a:moveTo>
                  <a:pt x="0" y="0"/>
                </a:moveTo>
                <a:lnTo>
                  <a:pt x="6240564" y="0"/>
                </a:lnTo>
                <a:lnTo>
                  <a:pt x="6240564" y="6642172"/>
                </a:lnTo>
                <a:lnTo>
                  <a:pt x="0" y="6642172"/>
                </a:lnTo>
                <a:lnTo>
                  <a:pt x="0" y="0"/>
                </a:lnTo>
                <a:close/>
              </a:path>
            </a:pathLst>
          </a:custGeom>
          <a:blipFill>
            <a:blip r:embed="rId4"/>
            <a:stretch>
              <a:fillRect l="-3217" t="0" r="-3217" b="0"/>
            </a:stretch>
          </a:blipFill>
        </p:spPr>
      </p:sp>
      <p:sp>
        <p:nvSpPr>
          <p:cNvPr name="TextBox 16" id="16"/>
          <p:cNvSpPr txBox="true"/>
          <p:nvPr/>
        </p:nvSpPr>
        <p:spPr>
          <a:xfrm rot="0">
            <a:off x="17521771" y="9626320"/>
            <a:ext cx="503758" cy="264160"/>
          </a:xfrm>
          <a:prstGeom prst="rect">
            <a:avLst/>
          </a:prstGeom>
        </p:spPr>
        <p:txBody>
          <a:bodyPr anchor="t" rtlCol="false" tIns="0" lIns="0" bIns="0" rIns="0">
            <a:spAutoFit/>
          </a:bodyPr>
          <a:lstStyle/>
          <a:p>
            <a:pPr algn="ctr">
              <a:lnSpc>
                <a:spcPts val="2239"/>
              </a:lnSpc>
            </a:pPr>
            <a:r>
              <a:rPr lang="en-US" b="true" sz="1599">
                <a:solidFill>
                  <a:srgbClr val="FFFFFF"/>
                </a:solidFill>
                <a:latin typeface="Open Sans Bold"/>
                <a:ea typeface="Open Sans Bold"/>
                <a:cs typeface="Open Sans Bold"/>
                <a:sym typeface="Open Sans Bold"/>
              </a:rPr>
              <a:t>06</a:t>
            </a:r>
          </a:p>
        </p:txBody>
      </p:sp>
      <p:sp>
        <p:nvSpPr>
          <p:cNvPr name="TextBox 17" id="17"/>
          <p:cNvSpPr txBox="true"/>
          <p:nvPr/>
        </p:nvSpPr>
        <p:spPr>
          <a:xfrm rot="0">
            <a:off x="1376321" y="1555941"/>
            <a:ext cx="7010241" cy="1362035"/>
          </a:xfrm>
          <a:prstGeom prst="rect">
            <a:avLst/>
          </a:prstGeom>
        </p:spPr>
        <p:txBody>
          <a:bodyPr anchor="t" rtlCol="false" tIns="0" lIns="0" bIns="0" rIns="0">
            <a:spAutoFit/>
          </a:bodyPr>
          <a:lstStyle/>
          <a:p>
            <a:pPr algn="l">
              <a:lnSpc>
                <a:spcPts val="5397"/>
              </a:lnSpc>
            </a:pPr>
            <a:r>
              <a:rPr lang="en-US" b="true" sz="4997">
                <a:solidFill>
                  <a:srgbClr val="1F2020"/>
                </a:solidFill>
                <a:latin typeface="Montserrat Bold"/>
                <a:ea typeface="Montserrat Bold"/>
                <a:cs typeface="Montserrat Bold"/>
                <a:sym typeface="Montserrat Bold"/>
              </a:rPr>
              <a:t>HOW TO WRITE ONE THAT GETS CLICKS</a:t>
            </a:r>
          </a:p>
        </p:txBody>
      </p:sp>
      <p:sp>
        <p:nvSpPr>
          <p:cNvPr name="TextBox 18" id="18"/>
          <p:cNvSpPr txBox="true"/>
          <p:nvPr/>
        </p:nvSpPr>
        <p:spPr>
          <a:xfrm rot="0">
            <a:off x="1376321" y="3876030"/>
            <a:ext cx="6993075" cy="4019355"/>
          </a:xfrm>
          <a:prstGeom prst="rect">
            <a:avLst/>
          </a:prstGeom>
        </p:spPr>
        <p:txBody>
          <a:bodyPr anchor="t" rtlCol="false" tIns="0" lIns="0" bIns="0" rIns="0">
            <a:spAutoFit/>
          </a:bodyPr>
          <a:lstStyle/>
          <a:p>
            <a:pPr algn="l" marL="759308" indent="-379654" lvl="1">
              <a:lnSpc>
                <a:spcPts val="4923"/>
              </a:lnSpc>
              <a:buFont typeface="Arial"/>
              <a:buChar char="•"/>
            </a:pPr>
            <a:r>
              <a:rPr lang="en-US" sz="3516">
                <a:solidFill>
                  <a:srgbClr val="1F2020"/>
                </a:solidFill>
                <a:latin typeface="Open Sans"/>
                <a:ea typeface="Open Sans"/>
                <a:cs typeface="Open Sans"/>
                <a:sym typeface="Open Sans"/>
              </a:rPr>
              <a:t>Stay within 150–160 characters</a:t>
            </a:r>
          </a:p>
          <a:p>
            <a:pPr algn="l" marL="759308" indent="-379654" lvl="1">
              <a:lnSpc>
                <a:spcPts val="4923"/>
              </a:lnSpc>
              <a:buFont typeface="Arial"/>
              <a:buChar char="•"/>
            </a:pPr>
            <a:r>
              <a:rPr lang="en-US" sz="3516">
                <a:solidFill>
                  <a:srgbClr val="1F2020"/>
                </a:solidFill>
                <a:latin typeface="Open Sans"/>
                <a:ea typeface="Open Sans"/>
                <a:cs typeface="Open Sans"/>
                <a:sym typeface="Open Sans"/>
              </a:rPr>
              <a:t>Use your keyword naturally (don’t force it)</a:t>
            </a:r>
          </a:p>
          <a:p>
            <a:pPr algn="l" marL="759308" indent="-379654" lvl="1">
              <a:lnSpc>
                <a:spcPts val="4923"/>
              </a:lnSpc>
              <a:buFont typeface="Arial"/>
              <a:buChar char="•"/>
            </a:pPr>
            <a:r>
              <a:rPr lang="en-US" sz="3516">
                <a:solidFill>
                  <a:srgbClr val="1F2020"/>
                </a:solidFill>
                <a:latin typeface="Open Sans"/>
                <a:ea typeface="Open Sans"/>
                <a:cs typeface="Open Sans"/>
                <a:sym typeface="Open Sans"/>
              </a:rPr>
              <a:t>Add a little curiosity or value</a:t>
            </a:r>
          </a:p>
          <a:p>
            <a:pPr algn="l" marL="759308" indent="-379654" lvl="1">
              <a:lnSpc>
                <a:spcPts val="4923"/>
              </a:lnSpc>
              <a:buFont typeface="Arial"/>
              <a:buChar char="•"/>
            </a:pPr>
            <a:r>
              <a:rPr lang="en-US" sz="3516">
                <a:solidFill>
                  <a:srgbClr val="1F2020"/>
                </a:solidFill>
                <a:latin typeface="Open Sans"/>
                <a:ea typeface="Open Sans"/>
                <a:cs typeface="Open Sans"/>
                <a:sym typeface="Open Sans"/>
              </a:rPr>
              <a:t>Speak directly to the reader</a:t>
            </a:r>
          </a:p>
          <a:p>
            <a:pPr algn="l">
              <a:lnSpc>
                <a:spcPts val="2447"/>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259300" y="9258300"/>
            <a:ext cx="1028700" cy="1028700"/>
            <a:chOff x="0" y="0"/>
            <a:chExt cx="270933" cy="270933"/>
          </a:xfrm>
        </p:grpSpPr>
        <p:sp>
          <p:nvSpPr>
            <p:cNvPr name="Freeform 9" id="9"/>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FFBD59"/>
            </a:solidFill>
          </p:spPr>
        </p:sp>
        <p:sp>
          <p:nvSpPr>
            <p:cNvPr name="TextBox 10" id="10"/>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0" y="5482785"/>
            <a:ext cx="7997904" cy="4804215"/>
            <a:chOff x="0" y="0"/>
            <a:chExt cx="10663871" cy="6405619"/>
          </a:xfrm>
        </p:grpSpPr>
        <p:pic>
          <p:nvPicPr>
            <p:cNvPr name="Picture 12" id="12"/>
            <p:cNvPicPr>
              <a:picLocks noChangeAspect="true"/>
            </p:cNvPicPr>
            <p:nvPr/>
          </p:nvPicPr>
          <p:blipFill>
            <a:blip r:embed="rId2"/>
            <a:srcRect l="0" t="16149" r="0" b="16149"/>
            <a:stretch>
              <a:fillRect/>
            </a:stretch>
          </p:blipFill>
          <p:spPr>
            <a:xfrm flipH="false" flipV="false">
              <a:off x="0" y="0"/>
              <a:ext cx="10663871" cy="6405619"/>
            </a:xfrm>
            <a:prstGeom prst="rect">
              <a:avLst/>
            </a:prstGeom>
          </p:spPr>
        </p:pic>
      </p:grpSp>
      <p:grpSp>
        <p:nvGrpSpPr>
          <p:cNvPr name="Group 13" id="13"/>
          <p:cNvGrpSpPr/>
          <p:nvPr/>
        </p:nvGrpSpPr>
        <p:grpSpPr>
          <a:xfrm rot="0">
            <a:off x="7997904" y="1028700"/>
            <a:ext cx="10290096" cy="4454085"/>
            <a:chOff x="0" y="0"/>
            <a:chExt cx="13720129" cy="5938781"/>
          </a:xfrm>
        </p:grpSpPr>
        <p:pic>
          <p:nvPicPr>
            <p:cNvPr name="Picture 14" id="14"/>
            <p:cNvPicPr>
              <a:picLocks noChangeAspect="true"/>
            </p:cNvPicPr>
            <p:nvPr/>
          </p:nvPicPr>
          <p:blipFill>
            <a:blip r:embed="rId3"/>
            <a:srcRect l="0" t="23963" r="0" b="23963"/>
            <a:stretch>
              <a:fillRect/>
            </a:stretch>
          </p:blipFill>
          <p:spPr>
            <a:xfrm flipH="false" flipV="false">
              <a:off x="0" y="0"/>
              <a:ext cx="13720129" cy="5938781"/>
            </a:xfrm>
            <a:prstGeom prst="rect">
              <a:avLst/>
            </a:prstGeom>
          </p:spPr>
        </p:pic>
      </p:grpSp>
      <p:sp>
        <p:nvSpPr>
          <p:cNvPr name="TextBox 15" id="15"/>
          <p:cNvSpPr txBox="true"/>
          <p:nvPr/>
        </p:nvSpPr>
        <p:spPr>
          <a:xfrm rot="0">
            <a:off x="17521771" y="9626320"/>
            <a:ext cx="503758" cy="264160"/>
          </a:xfrm>
          <a:prstGeom prst="rect">
            <a:avLst/>
          </a:prstGeom>
        </p:spPr>
        <p:txBody>
          <a:bodyPr anchor="t" rtlCol="false" tIns="0" lIns="0" bIns="0" rIns="0">
            <a:spAutoFit/>
          </a:bodyPr>
          <a:lstStyle/>
          <a:p>
            <a:pPr algn="ctr">
              <a:lnSpc>
                <a:spcPts val="2239"/>
              </a:lnSpc>
            </a:pPr>
            <a:r>
              <a:rPr lang="en-US" b="true" sz="1599">
                <a:solidFill>
                  <a:srgbClr val="FFFFFF"/>
                </a:solidFill>
                <a:latin typeface="Open Sans Bold"/>
                <a:ea typeface="Open Sans Bold"/>
                <a:cs typeface="Open Sans Bold"/>
                <a:sym typeface="Open Sans Bold"/>
              </a:rPr>
              <a:t>07</a:t>
            </a:r>
          </a:p>
        </p:txBody>
      </p:sp>
      <p:sp>
        <p:nvSpPr>
          <p:cNvPr name="TextBox 16" id="16"/>
          <p:cNvSpPr txBox="true"/>
          <p:nvPr/>
        </p:nvSpPr>
        <p:spPr>
          <a:xfrm rot="0">
            <a:off x="1881796" y="2908653"/>
            <a:ext cx="5241281" cy="1531580"/>
          </a:xfrm>
          <a:prstGeom prst="rect">
            <a:avLst/>
          </a:prstGeom>
        </p:spPr>
        <p:txBody>
          <a:bodyPr anchor="t" rtlCol="false" tIns="0" lIns="0" bIns="0" rIns="0">
            <a:spAutoFit/>
          </a:bodyPr>
          <a:lstStyle/>
          <a:p>
            <a:pPr algn="l">
              <a:lnSpc>
                <a:spcPts val="5937"/>
              </a:lnSpc>
            </a:pPr>
            <a:r>
              <a:rPr lang="en-US" b="true" sz="5497">
                <a:solidFill>
                  <a:srgbClr val="1F2020"/>
                </a:solidFill>
                <a:latin typeface="Montserrat Bold"/>
                <a:ea typeface="Montserrat Bold"/>
                <a:cs typeface="Montserrat Bold"/>
                <a:sym typeface="Montserrat Bold"/>
              </a:rPr>
              <a:t>QUICK COMPARISON</a:t>
            </a:r>
          </a:p>
        </p:txBody>
      </p:sp>
      <p:sp>
        <p:nvSpPr>
          <p:cNvPr name="TextBox 17" id="17"/>
          <p:cNvSpPr txBox="true"/>
          <p:nvPr/>
        </p:nvSpPr>
        <p:spPr>
          <a:xfrm rot="0">
            <a:off x="8283386" y="7032200"/>
            <a:ext cx="3895837" cy="1417321"/>
          </a:xfrm>
          <a:prstGeom prst="rect">
            <a:avLst/>
          </a:prstGeom>
        </p:spPr>
        <p:txBody>
          <a:bodyPr anchor="t" rtlCol="false" tIns="0" lIns="0" bIns="0" rIns="0">
            <a:spAutoFit/>
          </a:bodyPr>
          <a:lstStyle/>
          <a:p>
            <a:pPr algn="l" marL="582924" indent="-291462" lvl="1">
              <a:lnSpc>
                <a:spcPts val="3779"/>
              </a:lnSpc>
              <a:buFont typeface="Arial"/>
              <a:buChar char="•"/>
            </a:pPr>
            <a:r>
              <a:rPr lang="en-US" sz="2699">
                <a:solidFill>
                  <a:srgbClr val="1F2020"/>
                </a:solidFill>
                <a:latin typeface="Open Sans"/>
                <a:ea typeface="Open Sans"/>
                <a:cs typeface="Open Sans"/>
                <a:sym typeface="Open Sans"/>
              </a:rPr>
              <a:t>The headline</a:t>
            </a:r>
          </a:p>
          <a:p>
            <a:pPr algn="l" marL="582924" indent="-291462" lvl="1">
              <a:lnSpc>
                <a:spcPts val="3779"/>
              </a:lnSpc>
              <a:buFont typeface="Arial"/>
              <a:buChar char="•"/>
            </a:pPr>
            <a:r>
              <a:rPr lang="en-US" sz="2699">
                <a:solidFill>
                  <a:srgbClr val="1F2020"/>
                </a:solidFill>
                <a:latin typeface="Open Sans"/>
                <a:ea typeface="Open Sans"/>
                <a:cs typeface="Open Sans"/>
                <a:sym typeface="Open Sans"/>
              </a:rPr>
              <a:t>Impacts rankings</a:t>
            </a:r>
          </a:p>
          <a:p>
            <a:pPr algn="l" marL="582924" indent="-291462" lvl="1">
              <a:lnSpc>
                <a:spcPts val="3779"/>
              </a:lnSpc>
              <a:buFont typeface="Arial"/>
              <a:buChar char="•"/>
            </a:pPr>
            <a:r>
              <a:rPr lang="en-US" sz="2699">
                <a:solidFill>
                  <a:srgbClr val="1F2020"/>
                </a:solidFill>
                <a:latin typeface="Open Sans"/>
                <a:ea typeface="Open Sans"/>
                <a:cs typeface="Open Sans"/>
                <a:sym typeface="Open Sans"/>
              </a:rPr>
              <a:t>Short and sharp</a:t>
            </a:r>
          </a:p>
        </p:txBody>
      </p:sp>
      <p:sp>
        <p:nvSpPr>
          <p:cNvPr name="TextBox 18" id="18"/>
          <p:cNvSpPr txBox="true"/>
          <p:nvPr/>
        </p:nvSpPr>
        <p:spPr>
          <a:xfrm rot="0">
            <a:off x="8575216" y="6219400"/>
            <a:ext cx="2816350" cy="1099821"/>
          </a:xfrm>
          <a:prstGeom prst="rect">
            <a:avLst/>
          </a:prstGeom>
        </p:spPr>
        <p:txBody>
          <a:bodyPr anchor="t" rtlCol="false" tIns="0" lIns="0" bIns="0" rIns="0">
            <a:spAutoFit/>
          </a:bodyPr>
          <a:lstStyle/>
          <a:p>
            <a:pPr algn="l">
              <a:lnSpc>
                <a:spcPts val="4479"/>
              </a:lnSpc>
            </a:pPr>
            <a:r>
              <a:rPr lang="en-US" sz="3199" b="true">
                <a:solidFill>
                  <a:srgbClr val="FFBD59"/>
                </a:solidFill>
                <a:latin typeface="Open Sans Bold"/>
                <a:ea typeface="Open Sans Bold"/>
                <a:cs typeface="Open Sans Bold"/>
                <a:sym typeface="Open Sans Bold"/>
              </a:rPr>
              <a:t>Title Tag</a:t>
            </a:r>
          </a:p>
          <a:p>
            <a:pPr algn="l">
              <a:lnSpc>
                <a:spcPts val="4479"/>
              </a:lnSpc>
              <a:spcBef>
                <a:spcPct val="0"/>
              </a:spcBef>
            </a:pPr>
          </a:p>
        </p:txBody>
      </p:sp>
      <p:sp>
        <p:nvSpPr>
          <p:cNvPr name="TextBox 19" id="19"/>
          <p:cNvSpPr txBox="true"/>
          <p:nvPr/>
        </p:nvSpPr>
        <p:spPr>
          <a:xfrm rot="0">
            <a:off x="13142952" y="7032200"/>
            <a:ext cx="4231044" cy="1417321"/>
          </a:xfrm>
          <a:prstGeom prst="rect">
            <a:avLst/>
          </a:prstGeom>
        </p:spPr>
        <p:txBody>
          <a:bodyPr anchor="t" rtlCol="false" tIns="0" lIns="0" bIns="0" rIns="0">
            <a:spAutoFit/>
          </a:bodyPr>
          <a:lstStyle/>
          <a:p>
            <a:pPr algn="l" marL="582924" indent="-291462" lvl="1">
              <a:lnSpc>
                <a:spcPts val="3779"/>
              </a:lnSpc>
              <a:buFont typeface="Arial"/>
              <a:buChar char="•"/>
            </a:pPr>
            <a:r>
              <a:rPr lang="en-US" sz="2699">
                <a:solidFill>
                  <a:srgbClr val="1F2020"/>
                </a:solidFill>
                <a:latin typeface="Open Sans"/>
                <a:ea typeface="Open Sans"/>
                <a:cs typeface="Open Sans"/>
                <a:sym typeface="Open Sans"/>
              </a:rPr>
              <a:t>The summary</a:t>
            </a:r>
          </a:p>
          <a:p>
            <a:pPr algn="l" marL="582924" indent="-291462" lvl="1">
              <a:lnSpc>
                <a:spcPts val="3779"/>
              </a:lnSpc>
              <a:buFont typeface="Arial"/>
              <a:buChar char="•"/>
            </a:pPr>
            <a:r>
              <a:rPr lang="en-US" sz="2699">
                <a:solidFill>
                  <a:srgbClr val="1F2020"/>
                </a:solidFill>
                <a:latin typeface="Open Sans"/>
                <a:ea typeface="Open Sans"/>
                <a:cs typeface="Open Sans"/>
                <a:sym typeface="Open Sans"/>
              </a:rPr>
              <a:t>Impacts clicks</a:t>
            </a:r>
          </a:p>
          <a:p>
            <a:pPr algn="l" marL="582924" indent="-291462" lvl="1">
              <a:lnSpc>
                <a:spcPts val="3779"/>
              </a:lnSpc>
              <a:buFont typeface="Arial"/>
              <a:buChar char="•"/>
            </a:pPr>
            <a:r>
              <a:rPr lang="en-US" sz="2699">
                <a:solidFill>
                  <a:srgbClr val="1F2020"/>
                </a:solidFill>
                <a:latin typeface="Open Sans"/>
                <a:ea typeface="Open Sans"/>
                <a:cs typeface="Open Sans"/>
                <a:sym typeface="Open Sans"/>
              </a:rPr>
              <a:t>Slightly more detailed</a:t>
            </a:r>
          </a:p>
        </p:txBody>
      </p:sp>
      <p:sp>
        <p:nvSpPr>
          <p:cNvPr name="TextBox 20" id="20"/>
          <p:cNvSpPr txBox="true"/>
          <p:nvPr/>
        </p:nvSpPr>
        <p:spPr>
          <a:xfrm rot="0">
            <a:off x="13142952" y="5657425"/>
            <a:ext cx="3968573" cy="1661796"/>
          </a:xfrm>
          <a:prstGeom prst="rect">
            <a:avLst/>
          </a:prstGeom>
        </p:spPr>
        <p:txBody>
          <a:bodyPr anchor="t" rtlCol="false" tIns="0" lIns="0" bIns="0" rIns="0">
            <a:spAutoFit/>
          </a:bodyPr>
          <a:lstStyle/>
          <a:p>
            <a:pPr algn="ctr">
              <a:lnSpc>
                <a:spcPts val="4479"/>
              </a:lnSpc>
              <a:spcBef>
                <a:spcPct val="0"/>
              </a:spcBef>
            </a:pPr>
          </a:p>
          <a:p>
            <a:pPr algn="ctr">
              <a:lnSpc>
                <a:spcPts val="4479"/>
              </a:lnSpc>
              <a:spcBef>
                <a:spcPct val="0"/>
              </a:spcBef>
            </a:pPr>
            <a:r>
              <a:rPr lang="en-US" b="true" sz="3199">
                <a:solidFill>
                  <a:srgbClr val="FFBD59"/>
                </a:solidFill>
                <a:latin typeface="Open Sans Bold"/>
                <a:ea typeface="Open Sans Bold"/>
                <a:cs typeface="Open Sans Bold"/>
                <a:sym typeface="Open Sans Bold"/>
              </a:rPr>
              <a:t>Meta Description</a:t>
            </a:r>
          </a:p>
          <a:p>
            <a:pPr algn="ctr">
              <a:lnSpc>
                <a:spcPts val="447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259300" y="9258300"/>
            <a:ext cx="1028700" cy="1028700"/>
            <a:chOff x="0" y="0"/>
            <a:chExt cx="270933" cy="270933"/>
          </a:xfrm>
        </p:grpSpPr>
        <p:sp>
          <p:nvSpPr>
            <p:cNvPr name="Freeform 9" id="9"/>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FFBD59"/>
            </a:solidFill>
          </p:spPr>
        </p:sp>
        <p:sp>
          <p:nvSpPr>
            <p:cNvPr name="TextBox 10" id="10"/>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334667" y="1028700"/>
            <a:ext cx="6924633" cy="8229600"/>
            <a:chOff x="0" y="0"/>
            <a:chExt cx="9232844" cy="10972800"/>
          </a:xfrm>
        </p:grpSpPr>
        <p:pic>
          <p:nvPicPr>
            <p:cNvPr name="Picture 12" id="12"/>
            <p:cNvPicPr>
              <a:picLocks noChangeAspect="true"/>
            </p:cNvPicPr>
            <p:nvPr/>
          </p:nvPicPr>
          <p:blipFill>
            <a:blip r:embed="rId2"/>
            <a:srcRect l="28158" t="0" r="15746" b="0"/>
            <a:stretch>
              <a:fillRect/>
            </a:stretch>
          </p:blipFill>
          <p:spPr>
            <a:xfrm flipH="false" flipV="false">
              <a:off x="0" y="0"/>
              <a:ext cx="9232844" cy="10972800"/>
            </a:xfrm>
            <a:prstGeom prst="rect">
              <a:avLst/>
            </a:prstGeom>
          </p:spPr>
        </p:pic>
      </p:grpSp>
      <p:sp>
        <p:nvSpPr>
          <p:cNvPr name="TextBox 13" id="13"/>
          <p:cNvSpPr txBox="true"/>
          <p:nvPr/>
        </p:nvSpPr>
        <p:spPr>
          <a:xfrm rot="0">
            <a:off x="17521771" y="9626320"/>
            <a:ext cx="503758" cy="264160"/>
          </a:xfrm>
          <a:prstGeom prst="rect">
            <a:avLst/>
          </a:prstGeom>
        </p:spPr>
        <p:txBody>
          <a:bodyPr anchor="t" rtlCol="false" tIns="0" lIns="0" bIns="0" rIns="0">
            <a:spAutoFit/>
          </a:bodyPr>
          <a:lstStyle/>
          <a:p>
            <a:pPr algn="ctr">
              <a:lnSpc>
                <a:spcPts val="2239"/>
              </a:lnSpc>
            </a:pPr>
            <a:r>
              <a:rPr lang="en-US" b="true" sz="1599">
                <a:solidFill>
                  <a:srgbClr val="FFFFFF"/>
                </a:solidFill>
                <a:latin typeface="Open Sans Bold"/>
                <a:ea typeface="Open Sans Bold"/>
                <a:cs typeface="Open Sans Bold"/>
                <a:sym typeface="Open Sans Bold"/>
              </a:rPr>
              <a:t>08</a:t>
            </a:r>
          </a:p>
        </p:txBody>
      </p:sp>
      <p:sp>
        <p:nvSpPr>
          <p:cNvPr name="TextBox 14" id="14"/>
          <p:cNvSpPr txBox="true"/>
          <p:nvPr/>
        </p:nvSpPr>
        <p:spPr>
          <a:xfrm rot="0">
            <a:off x="1881796" y="2309466"/>
            <a:ext cx="8137694" cy="1531580"/>
          </a:xfrm>
          <a:prstGeom prst="rect">
            <a:avLst/>
          </a:prstGeom>
        </p:spPr>
        <p:txBody>
          <a:bodyPr anchor="t" rtlCol="false" tIns="0" lIns="0" bIns="0" rIns="0">
            <a:spAutoFit/>
          </a:bodyPr>
          <a:lstStyle/>
          <a:p>
            <a:pPr algn="l">
              <a:lnSpc>
                <a:spcPts val="5937"/>
              </a:lnSpc>
            </a:pPr>
            <a:r>
              <a:rPr lang="en-US" b="true" sz="5497">
                <a:solidFill>
                  <a:srgbClr val="1F2020"/>
                </a:solidFill>
                <a:latin typeface="Montserrat Bold"/>
                <a:ea typeface="Montserrat Bold"/>
                <a:cs typeface="Montserrat Bold"/>
                <a:sym typeface="Montserrat Bold"/>
              </a:rPr>
              <a:t>A FEW REAL-WORLD TIPS</a:t>
            </a:r>
          </a:p>
        </p:txBody>
      </p:sp>
      <p:sp>
        <p:nvSpPr>
          <p:cNvPr name="TextBox 15" id="15"/>
          <p:cNvSpPr txBox="true"/>
          <p:nvPr/>
        </p:nvSpPr>
        <p:spPr>
          <a:xfrm rot="0">
            <a:off x="1932880" y="4597147"/>
            <a:ext cx="5813095" cy="4780916"/>
          </a:xfrm>
          <a:prstGeom prst="rect">
            <a:avLst/>
          </a:prstGeom>
        </p:spPr>
        <p:txBody>
          <a:bodyPr anchor="t" rtlCol="false" tIns="0" lIns="0" bIns="0" rIns="0">
            <a:spAutoFit/>
          </a:bodyPr>
          <a:lstStyle/>
          <a:p>
            <a:pPr algn="l" marL="734050" indent="-367025" lvl="1">
              <a:lnSpc>
                <a:spcPts val="4759"/>
              </a:lnSpc>
              <a:buFont typeface="Arial"/>
              <a:buChar char="•"/>
            </a:pPr>
            <a:r>
              <a:rPr lang="en-US" sz="3399">
                <a:solidFill>
                  <a:srgbClr val="1F2020"/>
                </a:solidFill>
                <a:latin typeface="Open Sans"/>
                <a:ea typeface="Open Sans"/>
                <a:cs typeface="Open Sans"/>
                <a:sym typeface="Open Sans"/>
              </a:rPr>
              <a:t>Don’t write like a robot, write as you talk</a:t>
            </a:r>
          </a:p>
          <a:p>
            <a:pPr algn="l" marL="734050" indent="-367025" lvl="1">
              <a:lnSpc>
                <a:spcPts val="4759"/>
              </a:lnSpc>
              <a:buFont typeface="Arial"/>
              <a:buChar char="•"/>
            </a:pPr>
            <a:r>
              <a:rPr lang="en-US" sz="3399">
                <a:solidFill>
                  <a:srgbClr val="1F2020"/>
                </a:solidFill>
                <a:latin typeface="Open Sans"/>
                <a:ea typeface="Open Sans"/>
                <a:cs typeface="Open Sans"/>
                <a:sym typeface="Open Sans"/>
              </a:rPr>
              <a:t>Avoid repeating keywords unnaturally</a:t>
            </a:r>
          </a:p>
          <a:p>
            <a:pPr algn="l" marL="734050" indent="-367025" lvl="1">
              <a:lnSpc>
                <a:spcPts val="4759"/>
              </a:lnSpc>
              <a:buFont typeface="Arial"/>
              <a:buChar char="•"/>
            </a:pPr>
            <a:r>
              <a:rPr lang="en-US" sz="3399">
                <a:solidFill>
                  <a:srgbClr val="1F2020"/>
                </a:solidFill>
                <a:latin typeface="Open Sans"/>
                <a:ea typeface="Open Sans"/>
                <a:cs typeface="Open Sans"/>
                <a:sym typeface="Open Sans"/>
              </a:rPr>
              <a:t>Make every page unique</a:t>
            </a:r>
          </a:p>
          <a:p>
            <a:pPr algn="l" marL="734050" indent="-367025" lvl="1">
              <a:lnSpc>
                <a:spcPts val="4759"/>
              </a:lnSpc>
              <a:buFont typeface="Arial"/>
              <a:buChar char="•"/>
            </a:pPr>
            <a:r>
              <a:rPr lang="en-US" sz="3399">
                <a:solidFill>
                  <a:srgbClr val="1F2020"/>
                </a:solidFill>
                <a:latin typeface="Open Sans"/>
                <a:ea typeface="Open Sans"/>
                <a:cs typeface="Open Sans"/>
                <a:sym typeface="Open Sans"/>
              </a:rPr>
              <a:t>Think: “Would I click this?”</a:t>
            </a:r>
          </a:p>
          <a:p>
            <a:pPr algn="l">
              <a:lnSpc>
                <a:spcPts val="475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0" y="0"/>
            <a:ext cx="4537986" cy="10287000"/>
            <a:chOff x="0" y="0"/>
            <a:chExt cx="1195190" cy="2709333"/>
          </a:xfrm>
        </p:grpSpPr>
        <p:sp>
          <p:nvSpPr>
            <p:cNvPr name="Freeform 9" id="9"/>
            <p:cNvSpPr/>
            <p:nvPr/>
          </p:nvSpPr>
          <p:spPr>
            <a:xfrm flipH="false" flipV="false" rot="0">
              <a:off x="0" y="0"/>
              <a:ext cx="1195190" cy="2709333"/>
            </a:xfrm>
            <a:custGeom>
              <a:avLst/>
              <a:gdLst/>
              <a:ahLst/>
              <a:cxnLst/>
              <a:rect r="r" b="b" t="t" l="l"/>
              <a:pathLst>
                <a:path h="2709333" w="1195190">
                  <a:moveTo>
                    <a:pt x="0" y="0"/>
                  </a:moveTo>
                  <a:lnTo>
                    <a:pt x="1195190" y="0"/>
                  </a:lnTo>
                  <a:lnTo>
                    <a:pt x="1195190" y="2709333"/>
                  </a:lnTo>
                  <a:lnTo>
                    <a:pt x="0" y="2709333"/>
                  </a:lnTo>
                  <a:close/>
                </a:path>
              </a:pathLst>
            </a:custGeom>
            <a:gradFill rotWithShape="true">
              <a:gsLst>
                <a:gs pos="0">
                  <a:srgbClr val="0CC0DF">
                    <a:alpha val="40000"/>
                  </a:srgbClr>
                </a:gs>
                <a:gs pos="100000">
                  <a:srgbClr val="FFDE59">
                    <a:alpha val="40000"/>
                  </a:srgbClr>
                </a:gs>
              </a:gsLst>
              <a:lin ang="0"/>
            </a:gradFill>
          </p:spPr>
        </p:sp>
        <p:sp>
          <p:nvSpPr>
            <p:cNvPr name="TextBox 10" id="10"/>
            <p:cNvSpPr txBox="true"/>
            <p:nvPr/>
          </p:nvSpPr>
          <p:spPr>
            <a:xfrm>
              <a:off x="0" y="-38100"/>
              <a:ext cx="1195190" cy="274743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7259300" y="9258300"/>
            <a:ext cx="1028700" cy="1028700"/>
            <a:chOff x="0" y="0"/>
            <a:chExt cx="270933" cy="270933"/>
          </a:xfrm>
        </p:grpSpPr>
        <p:sp>
          <p:nvSpPr>
            <p:cNvPr name="Freeform 12" id="12"/>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FFBD59"/>
            </a:solidFill>
          </p:spPr>
        </p:sp>
        <p:sp>
          <p:nvSpPr>
            <p:cNvPr name="TextBox 13" id="13"/>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0" y="1974814"/>
            <a:ext cx="8364572" cy="6337372"/>
            <a:chOff x="0" y="0"/>
            <a:chExt cx="11152763" cy="8449829"/>
          </a:xfrm>
        </p:grpSpPr>
        <p:pic>
          <p:nvPicPr>
            <p:cNvPr name="Picture 15" id="15"/>
            <p:cNvPicPr>
              <a:picLocks noChangeAspect="true"/>
            </p:cNvPicPr>
            <p:nvPr/>
          </p:nvPicPr>
          <p:blipFill>
            <a:blip r:embed="rId2"/>
            <a:srcRect l="6003" t="0" r="6003" b="0"/>
            <a:stretch>
              <a:fillRect/>
            </a:stretch>
          </p:blipFill>
          <p:spPr>
            <a:xfrm flipH="false" flipV="false">
              <a:off x="0" y="0"/>
              <a:ext cx="11152763" cy="8449829"/>
            </a:xfrm>
            <a:prstGeom prst="rect">
              <a:avLst/>
            </a:prstGeom>
          </p:spPr>
        </p:pic>
      </p:grpSp>
      <p:sp>
        <p:nvSpPr>
          <p:cNvPr name="TextBox 16" id="16"/>
          <p:cNvSpPr txBox="true"/>
          <p:nvPr/>
        </p:nvSpPr>
        <p:spPr>
          <a:xfrm rot="0">
            <a:off x="17521771" y="9626320"/>
            <a:ext cx="503758" cy="264160"/>
          </a:xfrm>
          <a:prstGeom prst="rect">
            <a:avLst/>
          </a:prstGeom>
        </p:spPr>
        <p:txBody>
          <a:bodyPr anchor="t" rtlCol="false" tIns="0" lIns="0" bIns="0" rIns="0">
            <a:spAutoFit/>
          </a:bodyPr>
          <a:lstStyle/>
          <a:p>
            <a:pPr algn="ctr">
              <a:lnSpc>
                <a:spcPts val="2239"/>
              </a:lnSpc>
            </a:pPr>
            <a:r>
              <a:rPr lang="en-US" b="true" sz="1599">
                <a:solidFill>
                  <a:srgbClr val="FFFFFF"/>
                </a:solidFill>
                <a:latin typeface="Open Sans Bold"/>
                <a:ea typeface="Open Sans Bold"/>
                <a:cs typeface="Open Sans Bold"/>
                <a:sym typeface="Open Sans Bold"/>
              </a:rPr>
              <a:t>09</a:t>
            </a:r>
          </a:p>
        </p:txBody>
      </p:sp>
      <p:sp>
        <p:nvSpPr>
          <p:cNvPr name="TextBox 17" id="17"/>
          <p:cNvSpPr txBox="true"/>
          <p:nvPr/>
        </p:nvSpPr>
        <p:spPr>
          <a:xfrm rot="0">
            <a:off x="10285842" y="2537164"/>
            <a:ext cx="5342533" cy="936691"/>
          </a:xfrm>
          <a:prstGeom prst="rect">
            <a:avLst/>
          </a:prstGeom>
        </p:spPr>
        <p:txBody>
          <a:bodyPr anchor="t" rtlCol="false" tIns="0" lIns="0" bIns="0" rIns="0">
            <a:spAutoFit/>
          </a:bodyPr>
          <a:lstStyle/>
          <a:p>
            <a:pPr algn="l">
              <a:lnSpc>
                <a:spcPts val="7696"/>
              </a:lnSpc>
              <a:spcBef>
                <a:spcPct val="0"/>
              </a:spcBef>
            </a:pPr>
            <a:r>
              <a:rPr lang="en-US" b="true" sz="5497">
                <a:solidFill>
                  <a:srgbClr val="1F2020"/>
                </a:solidFill>
                <a:latin typeface="Montserrat Bold"/>
                <a:ea typeface="Montserrat Bold"/>
                <a:cs typeface="Montserrat Bold"/>
                <a:sym typeface="Montserrat Bold"/>
              </a:rPr>
              <a:t>FUTURE</a:t>
            </a:r>
          </a:p>
        </p:txBody>
      </p:sp>
      <p:sp>
        <p:nvSpPr>
          <p:cNvPr name="TextBox 18" id="18"/>
          <p:cNvSpPr txBox="true"/>
          <p:nvPr/>
        </p:nvSpPr>
        <p:spPr>
          <a:xfrm rot="0">
            <a:off x="9815280" y="3426230"/>
            <a:ext cx="5813095" cy="5241926"/>
          </a:xfrm>
          <a:prstGeom prst="rect">
            <a:avLst/>
          </a:prstGeom>
        </p:spPr>
        <p:txBody>
          <a:bodyPr anchor="t" rtlCol="false" tIns="0" lIns="0" bIns="0" rIns="0">
            <a:spAutoFit/>
          </a:bodyPr>
          <a:lstStyle/>
          <a:p>
            <a:pPr algn="l">
              <a:lnSpc>
                <a:spcPts val="3499"/>
              </a:lnSpc>
              <a:spcBef>
                <a:spcPct val="0"/>
              </a:spcBef>
            </a:pPr>
          </a:p>
          <a:p>
            <a:pPr algn="l" marL="539745" indent="-269872" lvl="1">
              <a:lnSpc>
                <a:spcPts val="3499"/>
              </a:lnSpc>
              <a:spcBef>
                <a:spcPct val="0"/>
              </a:spcBef>
              <a:buFont typeface="Arial"/>
              <a:buChar char="•"/>
            </a:pPr>
            <a:r>
              <a:rPr lang="en-US" sz="2499">
                <a:solidFill>
                  <a:srgbClr val="1F2020"/>
                </a:solidFill>
                <a:latin typeface="Open Sans"/>
                <a:ea typeface="Open Sans"/>
                <a:cs typeface="Open Sans"/>
                <a:sym typeface="Open Sans"/>
              </a:rPr>
              <a:t>Search engines may rewrite tags using AI</a:t>
            </a:r>
          </a:p>
          <a:p>
            <a:pPr algn="l" marL="539745" indent="-269872" lvl="1">
              <a:lnSpc>
                <a:spcPts val="3499"/>
              </a:lnSpc>
              <a:spcBef>
                <a:spcPct val="0"/>
              </a:spcBef>
              <a:buFont typeface="Arial"/>
              <a:buChar char="•"/>
            </a:pPr>
            <a:r>
              <a:rPr lang="en-US" sz="2499">
                <a:solidFill>
                  <a:srgbClr val="1F2020"/>
                </a:solidFill>
                <a:latin typeface="Open Sans"/>
                <a:ea typeface="Open Sans"/>
                <a:cs typeface="Open Sans"/>
                <a:sym typeface="Open Sans"/>
              </a:rPr>
              <a:t>Focus shifting to user intent over keywords</a:t>
            </a:r>
          </a:p>
          <a:p>
            <a:pPr algn="l" marL="539745" indent="-269872" lvl="1">
              <a:lnSpc>
                <a:spcPts val="3499"/>
              </a:lnSpc>
              <a:spcBef>
                <a:spcPct val="0"/>
              </a:spcBef>
              <a:buFont typeface="Arial"/>
              <a:buChar char="•"/>
            </a:pPr>
            <a:r>
              <a:rPr lang="en-US" sz="2499">
                <a:solidFill>
                  <a:srgbClr val="1F2020"/>
                </a:solidFill>
                <a:latin typeface="Open Sans"/>
                <a:ea typeface="Open Sans"/>
                <a:cs typeface="Open Sans"/>
                <a:sym typeface="Open Sans"/>
              </a:rPr>
              <a:t>Voice search needs more natural descriptions</a:t>
            </a:r>
          </a:p>
          <a:p>
            <a:pPr algn="l" marL="539745" indent="-269872" lvl="1">
              <a:lnSpc>
                <a:spcPts val="3499"/>
              </a:lnSpc>
              <a:spcBef>
                <a:spcPct val="0"/>
              </a:spcBef>
              <a:buFont typeface="Arial"/>
              <a:buChar char="•"/>
            </a:pPr>
            <a:r>
              <a:rPr lang="en-US" sz="2499">
                <a:solidFill>
                  <a:srgbClr val="1F2020"/>
                </a:solidFill>
                <a:latin typeface="Open Sans"/>
                <a:ea typeface="Open Sans"/>
                <a:cs typeface="Open Sans"/>
                <a:sym typeface="Open Sans"/>
              </a:rPr>
              <a:t>More competition with featured snippets</a:t>
            </a:r>
          </a:p>
          <a:p>
            <a:pPr algn="l" marL="539745" indent="-269872" lvl="1">
              <a:lnSpc>
                <a:spcPts val="3499"/>
              </a:lnSpc>
              <a:spcBef>
                <a:spcPct val="0"/>
              </a:spcBef>
              <a:buFont typeface="Arial"/>
              <a:buChar char="•"/>
            </a:pPr>
            <a:r>
              <a:rPr lang="en-US" sz="2499">
                <a:solidFill>
                  <a:srgbClr val="1F2020"/>
                </a:solidFill>
                <a:latin typeface="Open Sans"/>
                <a:ea typeface="Open Sans"/>
                <a:cs typeface="Open Sans"/>
                <a:sym typeface="Open Sans"/>
              </a:rPr>
              <a:t>Personalised search results will increase</a:t>
            </a:r>
          </a:p>
          <a:p>
            <a:pPr algn="l">
              <a:lnSpc>
                <a:spcPts val="349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FFBD59"/>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259300" y="9258300"/>
            <a:ext cx="1028700" cy="1028700"/>
            <a:chOff x="0" y="0"/>
            <a:chExt cx="270933" cy="270933"/>
          </a:xfrm>
        </p:grpSpPr>
        <p:sp>
          <p:nvSpPr>
            <p:cNvPr name="Freeform 9" id="9"/>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FFBD59"/>
            </a:solidFill>
          </p:spPr>
        </p:sp>
        <p:sp>
          <p:nvSpPr>
            <p:cNvPr name="TextBox 10" id="10"/>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598872" y="1702299"/>
            <a:ext cx="9144000" cy="5449624"/>
            <a:chOff x="0" y="0"/>
            <a:chExt cx="12192000" cy="7266165"/>
          </a:xfrm>
        </p:grpSpPr>
        <p:pic>
          <p:nvPicPr>
            <p:cNvPr name="Picture 12" id="12"/>
            <p:cNvPicPr>
              <a:picLocks noChangeAspect="true"/>
            </p:cNvPicPr>
            <p:nvPr/>
          </p:nvPicPr>
          <p:blipFill>
            <a:blip r:embed="rId2"/>
            <a:srcRect l="0" t="10249" r="0" b="10249"/>
            <a:stretch>
              <a:fillRect/>
            </a:stretch>
          </p:blipFill>
          <p:spPr>
            <a:xfrm flipH="false" flipV="false">
              <a:off x="0" y="0"/>
              <a:ext cx="12192000" cy="7266165"/>
            </a:xfrm>
            <a:prstGeom prst="rect">
              <a:avLst/>
            </a:prstGeom>
          </p:spPr>
        </p:pic>
      </p:grpSp>
      <p:grpSp>
        <p:nvGrpSpPr>
          <p:cNvPr name="Group 13" id="13"/>
          <p:cNvGrpSpPr/>
          <p:nvPr/>
        </p:nvGrpSpPr>
        <p:grpSpPr>
          <a:xfrm rot="0">
            <a:off x="10453988" y="2090616"/>
            <a:ext cx="807124" cy="807124"/>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BD59"/>
            </a:solidFill>
          </p:spPr>
        </p:sp>
        <p:sp>
          <p:nvSpPr>
            <p:cNvPr name="TextBox 15" id="15"/>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0453988" y="3856830"/>
            <a:ext cx="807124" cy="80712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BD59"/>
            </a:solidFill>
          </p:spPr>
        </p:sp>
        <p:sp>
          <p:nvSpPr>
            <p:cNvPr name="TextBox 18" id="18"/>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0453988" y="5623045"/>
            <a:ext cx="807124" cy="80712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BD59"/>
            </a:solidFill>
          </p:spPr>
        </p:sp>
        <p:sp>
          <p:nvSpPr>
            <p:cNvPr name="TextBox 21" id="21"/>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0453988" y="7389260"/>
            <a:ext cx="807124" cy="807124"/>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BD59"/>
            </a:solidFill>
          </p:spPr>
        </p:sp>
        <p:sp>
          <p:nvSpPr>
            <p:cNvPr name="TextBox 24" id="2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17521771" y="9626320"/>
            <a:ext cx="503758" cy="264160"/>
          </a:xfrm>
          <a:prstGeom prst="rect">
            <a:avLst/>
          </a:prstGeom>
        </p:spPr>
        <p:txBody>
          <a:bodyPr anchor="t" rtlCol="false" tIns="0" lIns="0" bIns="0" rIns="0">
            <a:spAutoFit/>
          </a:bodyPr>
          <a:lstStyle/>
          <a:p>
            <a:pPr algn="ctr">
              <a:lnSpc>
                <a:spcPts val="2239"/>
              </a:lnSpc>
            </a:pPr>
            <a:r>
              <a:rPr lang="en-US" b="true" sz="1599">
                <a:solidFill>
                  <a:srgbClr val="FFFFFF"/>
                </a:solidFill>
                <a:latin typeface="Open Sans Bold"/>
                <a:ea typeface="Open Sans Bold"/>
                <a:cs typeface="Open Sans Bold"/>
                <a:sym typeface="Open Sans Bold"/>
              </a:rPr>
              <a:t>10</a:t>
            </a:r>
          </a:p>
        </p:txBody>
      </p:sp>
      <p:sp>
        <p:nvSpPr>
          <p:cNvPr name="TextBox 26" id="26"/>
          <p:cNvSpPr txBox="true"/>
          <p:nvPr/>
        </p:nvSpPr>
        <p:spPr>
          <a:xfrm rot="0">
            <a:off x="1695426" y="7587859"/>
            <a:ext cx="7567772" cy="758531"/>
          </a:xfrm>
          <a:prstGeom prst="rect">
            <a:avLst/>
          </a:prstGeom>
        </p:spPr>
        <p:txBody>
          <a:bodyPr anchor="t" rtlCol="false" tIns="0" lIns="0" bIns="0" rIns="0">
            <a:spAutoFit/>
          </a:bodyPr>
          <a:lstStyle/>
          <a:p>
            <a:pPr algn="l">
              <a:lnSpc>
                <a:spcPts val="5829"/>
              </a:lnSpc>
            </a:pPr>
            <a:r>
              <a:rPr lang="en-US" b="true" sz="5397">
                <a:solidFill>
                  <a:srgbClr val="1F2020"/>
                </a:solidFill>
                <a:latin typeface="Montserrat Bold"/>
                <a:ea typeface="Montserrat Bold"/>
                <a:cs typeface="Montserrat Bold"/>
                <a:sym typeface="Montserrat Bold"/>
              </a:rPr>
              <a:t>CONCLUSION</a:t>
            </a:r>
          </a:p>
        </p:txBody>
      </p:sp>
      <p:sp>
        <p:nvSpPr>
          <p:cNvPr name="TextBox 27" id="27"/>
          <p:cNvSpPr txBox="true"/>
          <p:nvPr/>
        </p:nvSpPr>
        <p:spPr>
          <a:xfrm rot="0">
            <a:off x="10581484" y="2289360"/>
            <a:ext cx="552131" cy="371537"/>
          </a:xfrm>
          <a:prstGeom prst="rect">
            <a:avLst/>
          </a:prstGeom>
        </p:spPr>
        <p:txBody>
          <a:bodyPr anchor="t" rtlCol="false" tIns="0" lIns="0" bIns="0" rIns="0">
            <a:spAutoFit/>
          </a:bodyPr>
          <a:lstStyle/>
          <a:p>
            <a:pPr algn="ctr">
              <a:lnSpc>
                <a:spcPts val="3096"/>
              </a:lnSpc>
              <a:spcBef>
                <a:spcPct val="0"/>
              </a:spcBef>
            </a:pPr>
            <a:r>
              <a:rPr lang="en-US" b="true" sz="2212">
                <a:solidFill>
                  <a:srgbClr val="FFFFFF"/>
                </a:solidFill>
                <a:latin typeface="Open Sans Bold"/>
                <a:ea typeface="Open Sans Bold"/>
                <a:cs typeface="Open Sans Bold"/>
                <a:sym typeface="Open Sans Bold"/>
              </a:rPr>
              <a:t>01</a:t>
            </a:r>
          </a:p>
        </p:txBody>
      </p:sp>
      <p:sp>
        <p:nvSpPr>
          <p:cNvPr name="TextBox 28" id="28"/>
          <p:cNvSpPr txBox="true"/>
          <p:nvPr/>
        </p:nvSpPr>
        <p:spPr>
          <a:xfrm rot="0">
            <a:off x="11664836" y="2052516"/>
            <a:ext cx="4765237" cy="815341"/>
          </a:xfrm>
          <a:prstGeom prst="rect">
            <a:avLst/>
          </a:prstGeom>
        </p:spPr>
        <p:txBody>
          <a:bodyPr anchor="t" rtlCol="false" tIns="0" lIns="0" bIns="0" rIns="0">
            <a:spAutoFit/>
          </a:bodyPr>
          <a:lstStyle/>
          <a:p>
            <a:pPr algn="l">
              <a:lnSpc>
                <a:spcPts val="3359"/>
              </a:lnSpc>
              <a:spcBef>
                <a:spcPct val="0"/>
              </a:spcBef>
            </a:pPr>
            <a:r>
              <a:rPr lang="en-US" sz="2399">
                <a:solidFill>
                  <a:srgbClr val="1F2020"/>
                </a:solidFill>
                <a:latin typeface="Open Sans"/>
                <a:ea typeface="Open Sans"/>
                <a:cs typeface="Open Sans"/>
                <a:sym typeface="Open Sans"/>
              </a:rPr>
              <a:t>Title tags &amp; meta descriptions are key for SEO</a:t>
            </a:r>
          </a:p>
        </p:txBody>
      </p:sp>
      <p:sp>
        <p:nvSpPr>
          <p:cNvPr name="TextBox 29" id="29"/>
          <p:cNvSpPr txBox="true"/>
          <p:nvPr/>
        </p:nvSpPr>
        <p:spPr>
          <a:xfrm rot="0">
            <a:off x="10581484" y="4055574"/>
            <a:ext cx="552131" cy="371537"/>
          </a:xfrm>
          <a:prstGeom prst="rect">
            <a:avLst/>
          </a:prstGeom>
        </p:spPr>
        <p:txBody>
          <a:bodyPr anchor="t" rtlCol="false" tIns="0" lIns="0" bIns="0" rIns="0">
            <a:spAutoFit/>
          </a:bodyPr>
          <a:lstStyle/>
          <a:p>
            <a:pPr algn="ctr">
              <a:lnSpc>
                <a:spcPts val="3096"/>
              </a:lnSpc>
              <a:spcBef>
                <a:spcPct val="0"/>
              </a:spcBef>
            </a:pPr>
            <a:r>
              <a:rPr lang="en-US" b="true" sz="2212">
                <a:solidFill>
                  <a:srgbClr val="FFFFFF"/>
                </a:solidFill>
                <a:latin typeface="Open Sans Bold"/>
                <a:ea typeface="Open Sans Bold"/>
                <a:cs typeface="Open Sans Bold"/>
                <a:sym typeface="Open Sans Bold"/>
              </a:rPr>
              <a:t>02</a:t>
            </a:r>
          </a:p>
        </p:txBody>
      </p:sp>
      <p:sp>
        <p:nvSpPr>
          <p:cNvPr name="TextBox 30" id="30"/>
          <p:cNvSpPr txBox="true"/>
          <p:nvPr/>
        </p:nvSpPr>
        <p:spPr>
          <a:xfrm rot="0">
            <a:off x="11664836" y="3818730"/>
            <a:ext cx="4765237" cy="815341"/>
          </a:xfrm>
          <a:prstGeom prst="rect">
            <a:avLst/>
          </a:prstGeom>
        </p:spPr>
        <p:txBody>
          <a:bodyPr anchor="t" rtlCol="false" tIns="0" lIns="0" bIns="0" rIns="0">
            <a:spAutoFit/>
          </a:bodyPr>
          <a:lstStyle/>
          <a:p>
            <a:pPr algn="l">
              <a:lnSpc>
                <a:spcPts val="3359"/>
              </a:lnSpc>
              <a:spcBef>
                <a:spcPct val="0"/>
              </a:spcBef>
            </a:pPr>
            <a:r>
              <a:rPr lang="en-US" sz="2399">
                <a:solidFill>
                  <a:srgbClr val="1F2020"/>
                </a:solidFill>
                <a:latin typeface="Open Sans"/>
                <a:ea typeface="Open Sans"/>
                <a:cs typeface="Open Sans"/>
                <a:sym typeface="Open Sans"/>
              </a:rPr>
              <a:t>They create the first impression on search results</a:t>
            </a:r>
          </a:p>
        </p:txBody>
      </p:sp>
      <p:sp>
        <p:nvSpPr>
          <p:cNvPr name="TextBox 31" id="31"/>
          <p:cNvSpPr txBox="true"/>
          <p:nvPr/>
        </p:nvSpPr>
        <p:spPr>
          <a:xfrm rot="0">
            <a:off x="10581484" y="5821789"/>
            <a:ext cx="552131" cy="371537"/>
          </a:xfrm>
          <a:prstGeom prst="rect">
            <a:avLst/>
          </a:prstGeom>
        </p:spPr>
        <p:txBody>
          <a:bodyPr anchor="t" rtlCol="false" tIns="0" lIns="0" bIns="0" rIns="0">
            <a:spAutoFit/>
          </a:bodyPr>
          <a:lstStyle/>
          <a:p>
            <a:pPr algn="ctr">
              <a:lnSpc>
                <a:spcPts val="3096"/>
              </a:lnSpc>
              <a:spcBef>
                <a:spcPct val="0"/>
              </a:spcBef>
            </a:pPr>
            <a:r>
              <a:rPr lang="en-US" b="true" sz="2212">
                <a:solidFill>
                  <a:srgbClr val="FFFFFF"/>
                </a:solidFill>
                <a:latin typeface="Open Sans Bold"/>
                <a:ea typeface="Open Sans Bold"/>
                <a:cs typeface="Open Sans Bold"/>
                <a:sym typeface="Open Sans Bold"/>
              </a:rPr>
              <a:t>03</a:t>
            </a:r>
          </a:p>
        </p:txBody>
      </p:sp>
      <p:sp>
        <p:nvSpPr>
          <p:cNvPr name="TextBox 32" id="32"/>
          <p:cNvSpPr txBox="true"/>
          <p:nvPr/>
        </p:nvSpPr>
        <p:spPr>
          <a:xfrm rot="0">
            <a:off x="11664836" y="5584945"/>
            <a:ext cx="4765237" cy="815341"/>
          </a:xfrm>
          <a:prstGeom prst="rect">
            <a:avLst/>
          </a:prstGeom>
        </p:spPr>
        <p:txBody>
          <a:bodyPr anchor="t" rtlCol="false" tIns="0" lIns="0" bIns="0" rIns="0">
            <a:spAutoFit/>
          </a:bodyPr>
          <a:lstStyle/>
          <a:p>
            <a:pPr algn="l">
              <a:lnSpc>
                <a:spcPts val="3359"/>
              </a:lnSpc>
              <a:spcBef>
                <a:spcPct val="0"/>
              </a:spcBef>
            </a:pPr>
            <a:r>
              <a:rPr lang="en-US" sz="2399">
                <a:solidFill>
                  <a:srgbClr val="1F2020"/>
                </a:solidFill>
                <a:latin typeface="Open Sans"/>
                <a:ea typeface="Open Sans"/>
                <a:cs typeface="Open Sans"/>
                <a:sym typeface="Open Sans"/>
              </a:rPr>
              <a:t>Help improve click-through rate (CTR)</a:t>
            </a:r>
          </a:p>
        </p:txBody>
      </p:sp>
      <p:sp>
        <p:nvSpPr>
          <p:cNvPr name="TextBox 33" id="33"/>
          <p:cNvSpPr txBox="true"/>
          <p:nvPr/>
        </p:nvSpPr>
        <p:spPr>
          <a:xfrm rot="0">
            <a:off x="10581484" y="7588003"/>
            <a:ext cx="552131" cy="371537"/>
          </a:xfrm>
          <a:prstGeom prst="rect">
            <a:avLst/>
          </a:prstGeom>
        </p:spPr>
        <p:txBody>
          <a:bodyPr anchor="t" rtlCol="false" tIns="0" lIns="0" bIns="0" rIns="0">
            <a:spAutoFit/>
          </a:bodyPr>
          <a:lstStyle/>
          <a:p>
            <a:pPr algn="ctr">
              <a:lnSpc>
                <a:spcPts val="3096"/>
              </a:lnSpc>
              <a:spcBef>
                <a:spcPct val="0"/>
              </a:spcBef>
            </a:pPr>
            <a:r>
              <a:rPr lang="en-US" b="true" sz="2212">
                <a:solidFill>
                  <a:srgbClr val="FFFFFF"/>
                </a:solidFill>
                <a:latin typeface="Open Sans Bold"/>
                <a:ea typeface="Open Sans Bold"/>
                <a:cs typeface="Open Sans Bold"/>
                <a:sym typeface="Open Sans Bold"/>
              </a:rPr>
              <a:t>04</a:t>
            </a:r>
          </a:p>
        </p:txBody>
      </p:sp>
      <p:sp>
        <p:nvSpPr>
          <p:cNvPr name="TextBox 34" id="34"/>
          <p:cNvSpPr txBox="true"/>
          <p:nvPr/>
        </p:nvSpPr>
        <p:spPr>
          <a:xfrm rot="0">
            <a:off x="11664836" y="7351160"/>
            <a:ext cx="5093545" cy="1653541"/>
          </a:xfrm>
          <a:prstGeom prst="rect">
            <a:avLst/>
          </a:prstGeom>
        </p:spPr>
        <p:txBody>
          <a:bodyPr anchor="t" rtlCol="false" tIns="0" lIns="0" bIns="0" rIns="0">
            <a:spAutoFit/>
          </a:bodyPr>
          <a:lstStyle/>
          <a:p>
            <a:pPr algn="l">
              <a:lnSpc>
                <a:spcPts val="3359"/>
              </a:lnSpc>
            </a:pPr>
            <a:r>
              <a:rPr lang="en-US" sz="2399">
                <a:solidFill>
                  <a:srgbClr val="1F2020"/>
                </a:solidFill>
                <a:latin typeface="Open Sans"/>
                <a:ea typeface="Open Sans"/>
                <a:cs typeface="Open Sans"/>
                <a:sym typeface="Open Sans"/>
              </a:rPr>
              <a:t>Must be clear, relevant, and engaging. </a:t>
            </a:r>
            <a:r>
              <a:rPr lang="en-US" sz="2399">
                <a:solidFill>
                  <a:srgbClr val="1F2020"/>
                </a:solidFill>
                <a:latin typeface="Open Sans"/>
                <a:ea typeface="Open Sans"/>
                <a:cs typeface="Open Sans"/>
                <a:sym typeface="Open Sans"/>
              </a:rPr>
              <a:t>Good optimisation = more traffic</a:t>
            </a:r>
          </a:p>
          <a:p>
            <a:pPr algn="l">
              <a:lnSpc>
                <a:spcPts val="3359"/>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DAHGJ6St_ZI</dc:identifier>
  <dcterms:modified xsi:type="dcterms:W3CDTF">2011-08-01T06:04:30Z</dcterms:modified>
  <cp:revision>1</cp:revision>
  <dc:title>Title Tags &amp; Meta Descriptions</dc:title>
</cp:coreProperties>
</file>